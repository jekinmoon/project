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2" r:id="rId1"/>
  </p:sldMasterIdLst>
  <p:sldIdLst>
    <p:sldId id="256" r:id="rId2"/>
    <p:sldId id="257" r:id="rId3"/>
    <p:sldId id="268" r:id="rId4"/>
    <p:sldId id="272" r:id="rId5"/>
    <p:sldId id="258" r:id="rId6"/>
    <p:sldId id="259" r:id="rId7"/>
    <p:sldId id="269" r:id="rId8"/>
    <p:sldId id="270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9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8" d="100"/>
          <a:sy n="38" d="100"/>
        </p:scale>
        <p:origin x="946" y="86"/>
      </p:cViewPr>
      <p:guideLst>
        <p:guide orient="horz" pos="2183"/>
        <p:guide pos="28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28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20.png"/><Relationship Id="rId7" Type="http://schemas.openxmlformats.org/officeDocument/2006/relationships/image" Target="../media/image4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7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29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64.png"/><Relationship Id="rId3" Type="http://schemas.openxmlformats.org/officeDocument/2006/relationships/image" Target="../media/image20.png"/><Relationship Id="rId7" Type="http://schemas.openxmlformats.org/officeDocument/2006/relationships/image" Target="../media/image68.png"/><Relationship Id="rId12" Type="http://schemas.openxmlformats.org/officeDocument/2006/relationships/image" Target="../media/image72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2.png"/><Relationship Id="rId5" Type="http://schemas.openxmlformats.org/officeDocument/2006/relationships/image" Target="../media/image67.png"/><Relationship Id="rId15" Type="http://schemas.openxmlformats.org/officeDocument/2006/relationships/image" Target="../media/image29.png"/><Relationship Id="rId10" Type="http://schemas.openxmlformats.org/officeDocument/2006/relationships/image" Target="../media/image71.png"/><Relationship Id="rId4" Type="http://schemas.openxmlformats.org/officeDocument/2006/relationships/image" Target="../media/image66.png"/><Relationship Id="rId9" Type="http://schemas.openxmlformats.org/officeDocument/2006/relationships/image" Target="../media/image70.png"/><Relationship Id="rId14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112000" y="-3556000"/>
            <a:ext cx="10172700" cy="22631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846800" y="4343400"/>
            <a:ext cx="3810000" cy="8089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>
            <a:alphaModFix amt="80000"/>
          </a:blip>
          <a:stretch>
            <a:fillRect/>
          </a:stretch>
        </p:blipFill>
        <p:spPr>
          <a:xfrm>
            <a:off x="18770600" y="9893300"/>
            <a:ext cx="254000" cy="254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1793200" y="9017000"/>
            <a:ext cx="1117600" cy="130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8707100" y="8775700"/>
            <a:ext cx="381000" cy="381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927100" y="4529622"/>
            <a:ext cx="17665700" cy="2819400"/>
          </a:xfrm>
          <a:prstGeom prst="rect">
            <a:avLst/>
          </a:prstGeom>
        </p:spPr>
        <p:txBody>
          <a:bodyPr lIns="0" tIns="0" rIns="0" bIns="118533" anchor="b"/>
          <a:lstStyle/>
          <a:p>
            <a:pPr lvl="0" algn="ctr">
              <a:lnSpc>
                <a:spcPct val="100000"/>
              </a:lnSpc>
              <a:defRPr/>
            </a:pP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국내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태양광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발전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ko-KR" altLang="en-US" sz="8000" b="0" i="0" u="none" strike="noStrike" spc="-93" dirty="0">
                <a:solidFill>
                  <a:srgbClr val="242424"/>
                </a:solidFill>
                <a:ea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및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8000" b="0" i="0" u="none" strike="noStrike" spc="-93" dirty="0">
                <a:solidFill>
                  <a:srgbClr val="242424"/>
                </a:solidFill>
                <a:latin typeface="MapoDPP"/>
              </a:rPr>
              <a:t>최적화 전략</a:t>
            </a:r>
            <a:endParaRPr lang="ko-KR" sz="8000" b="0" i="0" u="none" strike="noStrike" spc="-93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4376400" y="11042651"/>
            <a:ext cx="4216400" cy="825500"/>
          </a:xfrm>
          <a:prstGeom prst="rect">
            <a:avLst/>
          </a:prstGeom>
        </p:spPr>
        <p:txBody>
          <a:bodyPr lIns="0" tIns="59267" rIns="0" bIns="0" anchor="t"/>
          <a:lstStyle/>
          <a:p>
            <a:pPr lvl="0" algn="l">
              <a:lnSpc>
                <a:spcPct val="100000"/>
              </a:lnSpc>
              <a:defRPr/>
            </a:pPr>
            <a:r>
              <a:rPr lang="ko-KR" sz="4665" b="0" i="0" u="none" strike="noStrike" dirty="0" err="1">
                <a:solidFill>
                  <a:srgbClr val="242424"/>
                </a:solidFill>
                <a:ea typeface="Pretendard SemiBold"/>
              </a:rPr>
              <a:t>백동윤</a:t>
            </a:r>
            <a:r>
              <a:rPr lang="en-US" sz="4665" b="0" i="0" u="none" strike="noStrike" dirty="0">
                <a:solidFill>
                  <a:srgbClr val="242424"/>
                </a:solidFill>
                <a:latin typeface="Pretendard SemiBold"/>
              </a:rPr>
              <a:t>   </a:t>
            </a:r>
            <a:r>
              <a:rPr lang="ko-KR" sz="4665" b="0" i="0" u="none" strike="noStrike" dirty="0" err="1">
                <a:solidFill>
                  <a:srgbClr val="242424"/>
                </a:solidFill>
                <a:ea typeface="Pretendard SemiBold"/>
              </a:rPr>
              <a:t>문상익</a:t>
            </a:r>
            <a:endParaRPr lang="ko-KR" sz="4665" b="0" i="0" u="none" strike="noStrike" dirty="0">
              <a:solidFill>
                <a:srgbClr val="242424"/>
              </a:solidFill>
              <a:ea typeface="Pretendard SemiBold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76300" y="520700"/>
            <a:ext cx="5486400" cy="5486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215D3EE6-B16F-4AB4-8E07-0CE6CBD51B8C}"/>
              </a:ext>
            </a:extLst>
          </p:cNvPr>
          <p:cNvSpPr txBox="1"/>
          <p:nvPr/>
        </p:nvSpPr>
        <p:spPr>
          <a:xfrm>
            <a:off x="3665054" y="805497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4000" dirty="0"/>
              <a:t>데이터 기반의 온도계수 분석과 지역별 맞춤형 로드맵 제안</a:t>
            </a:r>
            <a:endParaRPr lang="ko-KR" altLang="en-US" sz="4000" b="0" i="0" u="none" strike="noStrike" spc="-71" dirty="0">
              <a:solidFill>
                <a:srgbClr val="242424"/>
              </a:solidFill>
              <a:latin typeface="MapoDPP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0"/>
            <a:ext cx="24384000" cy="4432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6591301" y="-3952736"/>
            <a:ext cx="11172963" cy="2441243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09800" y="6934200"/>
            <a:ext cx="19964400" cy="502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3429000" y="7721600"/>
            <a:ext cx="46101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sz="3000" b="0" i="0" u="none" strike="noStrike" dirty="0">
                <a:solidFill>
                  <a:srgbClr val="242424"/>
                </a:solidFill>
                <a:ea typeface="Pretendard Bold"/>
              </a:rPr>
              <a:t>분석</a:t>
            </a:r>
            <a:r>
              <a:rPr lang="en-US" sz="3000" b="0" i="0" u="none" strike="noStrike" dirty="0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altLang="en-US" sz="3000" b="0" i="0" u="none" strike="noStrike" dirty="0">
                <a:solidFill>
                  <a:srgbClr val="242424"/>
                </a:solidFill>
                <a:latin typeface="Pretendard Bold"/>
              </a:rPr>
              <a:t>배경 및 목적</a:t>
            </a:r>
            <a:endParaRPr lang="ko-KR" altLang="en-US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566400" y="78486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>
                <a:solidFill>
                  <a:srgbClr val="242424"/>
                </a:solidFill>
                <a:latin typeface="Cinzel Bold"/>
              </a:rPr>
              <a:t>0</a:t>
            </a:r>
            <a:r>
              <a:rPr lang="en-US" altLang="ko-KR" sz="2400" b="0" i="0" u="none" strike="noStrike">
                <a:solidFill>
                  <a:srgbClr val="242424"/>
                </a:solidFill>
                <a:latin typeface="Cinzel Bold"/>
              </a:rPr>
              <a:t>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429000" y="8864600"/>
            <a:ext cx="6477000" cy="9652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dirty="0"/>
              <a:t>국내 태양광 발전 및 지역별 편차</a:t>
            </a:r>
            <a:endParaRPr lang="ko-KR" altLang="en-US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429000" y="10620512"/>
            <a:ext cx="57150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dirty="0"/>
              <a:t>기상 요인</a:t>
            </a:r>
            <a:r>
              <a:rPr lang="en-US" altLang="ko-KR" sz="3000" dirty="0"/>
              <a:t>(</a:t>
            </a:r>
            <a:r>
              <a:rPr lang="ko-KR" altLang="en-US" sz="3000" dirty="0"/>
              <a:t>일사량</a:t>
            </a:r>
            <a:r>
              <a:rPr lang="en-US" altLang="ko-KR" sz="3000" dirty="0"/>
              <a:t>·</a:t>
            </a:r>
            <a:r>
              <a:rPr lang="ko-KR" altLang="en-US" sz="3000" dirty="0"/>
              <a:t>기온</a:t>
            </a:r>
            <a:r>
              <a:rPr lang="en-US" altLang="ko-KR" sz="3000" dirty="0"/>
              <a:t>)</a:t>
            </a:r>
            <a:r>
              <a:rPr lang="ko-KR" altLang="en-US" sz="3000" dirty="0"/>
              <a:t>과 효율의 상관관계</a:t>
            </a:r>
            <a:endParaRPr lang="ko-KR" altLang="en-US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566400" y="92202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dirty="0">
                <a:solidFill>
                  <a:srgbClr val="242424"/>
                </a:solidFill>
                <a:latin typeface="Cinzel Bold"/>
              </a:rPr>
              <a:t>5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566400" y="105918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>
                <a:solidFill>
                  <a:srgbClr val="242424"/>
                </a:solidFill>
                <a:latin typeface="Cinzel Bold"/>
              </a:rPr>
              <a:t>05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320000" y="78486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>
                <a:solidFill>
                  <a:srgbClr val="242424"/>
                </a:solidFill>
                <a:latin typeface="Cinzel Bold"/>
              </a:rPr>
              <a:t>0</a:t>
            </a:r>
            <a:r>
              <a:rPr lang="en-US" altLang="ko-KR" sz="2400" b="0" i="0" u="none" strike="noStrike">
                <a:solidFill>
                  <a:srgbClr val="242424"/>
                </a:solidFill>
                <a:latin typeface="Cinzel Bold"/>
              </a:rPr>
              <a:t>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06400" y="7772400"/>
            <a:ext cx="50292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dirty="0"/>
              <a:t>지역별 맞춤형 최적화 로드맵</a:t>
            </a:r>
            <a:endParaRPr lang="en-US" altLang="ko-KR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59600" y="8071997"/>
            <a:ext cx="431799" cy="5202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042900" y="9067800"/>
            <a:ext cx="58547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dirty="0"/>
              <a:t>기대효과 및 정책 제언</a:t>
            </a:r>
            <a:endParaRPr lang="ko-KR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20320000" y="92202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altLang="ko-KR" sz="2400" b="0" i="0" u="none" strike="noStrike" dirty="0">
                <a:solidFill>
                  <a:srgbClr val="242424"/>
                </a:solidFill>
                <a:latin typeface="Cinzel Bold"/>
              </a:rPr>
              <a:t>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070100" y="4318000"/>
            <a:ext cx="20231100" cy="1257300"/>
          </a:xfrm>
          <a:prstGeom prst="rect">
            <a:avLst/>
          </a:prstGeom>
        </p:spPr>
        <p:txBody>
          <a:bodyPr lIns="0" tIns="89745" rIns="0" bIns="0" anchor="t"/>
          <a:lstStyle/>
          <a:p>
            <a:pPr lvl="0" algn="ctr">
              <a:lnSpc>
                <a:spcPct val="100000"/>
              </a:lnSpc>
              <a:defRPr/>
            </a:pPr>
            <a:r>
              <a:rPr lang="en-GB" sz="7065" b="0" i="0" u="none" strike="noStrike" spc="-71">
                <a:solidFill>
                  <a:srgbClr val="242424"/>
                </a:solidFill>
                <a:ea typeface="MapoDPP"/>
              </a:rPr>
              <a:t>목차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76300" y="419100"/>
            <a:ext cx="5486400" cy="5486400"/>
          </a:xfrm>
          <a:prstGeom prst="rect">
            <a:avLst/>
          </a:prstGeom>
        </p:spPr>
      </p:pic>
      <p:cxnSp>
        <p:nvCxnSpPr>
          <p:cNvPr id="28" name="Straight Connector 27"/>
          <p:cNvCxnSpPr>
            <a:cxnSpLocks/>
          </p:cNvCxnSpPr>
          <p:nvPr/>
        </p:nvCxnSpPr>
        <p:spPr>
          <a:xfrm>
            <a:off x="6553200" y="8051800"/>
            <a:ext cx="3886200" cy="38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cxnSpLocks/>
          </p:cNvCxnSpPr>
          <p:nvPr/>
        </p:nvCxnSpPr>
        <p:spPr>
          <a:xfrm>
            <a:off x="9144000" y="9448655"/>
            <a:ext cx="134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cxnSpLocks/>
            <a:endCxn id="12" idx="1"/>
          </p:cNvCxnSpPr>
          <p:nvPr/>
        </p:nvCxnSpPr>
        <p:spPr>
          <a:xfrm>
            <a:off x="9269412" y="10807700"/>
            <a:ext cx="12969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cxnSpLocks/>
          </p:cNvCxnSpPr>
          <p:nvPr/>
        </p:nvCxnSpPr>
        <p:spPr>
          <a:xfrm>
            <a:off x="17068800" y="9497060"/>
            <a:ext cx="3136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cxnSpLocks/>
          </p:cNvCxnSpPr>
          <p:nvPr/>
        </p:nvCxnSpPr>
        <p:spPr>
          <a:xfrm flipV="1">
            <a:off x="18364200" y="8064500"/>
            <a:ext cx="1828800" cy="2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21">
            <a:extLst>
              <a:ext uri="{FF2B5EF4-FFF2-40B4-BE49-F238E27FC236}">
                <a16:creationId xmlns:a16="http://schemas.microsoft.com/office/drawing/2014/main" id="{074CCF15-FA45-4EC6-BD1E-5861D5B29C5E}"/>
              </a:ext>
            </a:extLst>
          </p:cNvPr>
          <p:cNvSpPr txBox="1"/>
          <p:nvPr/>
        </p:nvSpPr>
        <p:spPr>
          <a:xfrm>
            <a:off x="13104743" y="10474960"/>
            <a:ext cx="58547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b="0" i="0" u="none" strike="noStrike" dirty="0">
                <a:solidFill>
                  <a:srgbClr val="242424"/>
                </a:solidFill>
                <a:ea typeface="Pretendard Bold"/>
              </a:rPr>
              <a:t>출처 및 </a:t>
            </a:r>
            <a:r>
              <a:rPr lang="en-US" altLang="ko-KR" sz="3000" b="0" i="0" u="none" strike="noStrike" dirty="0" err="1">
                <a:solidFill>
                  <a:srgbClr val="242424"/>
                </a:solidFill>
                <a:ea typeface="Pretendard Bold"/>
              </a:rPr>
              <a:t>QnA</a:t>
            </a:r>
            <a:endParaRPr lang="ko-KR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cxnSp>
        <p:nvCxnSpPr>
          <p:cNvPr id="40" name="Straight Connector 30">
            <a:extLst>
              <a:ext uri="{FF2B5EF4-FFF2-40B4-BE49-F238E27FC236}">
                <a16:creationId xmlns:a16="http://schemas.microsoft.com/office/drawing/2014/main" id="{4D6A39D5-6282-4260-824A-2101DE9EC398}"/>
              </a:ext>
            </a:extLst>
          </p:cNvPr>
          <p:cNvCxnSpPr>
            <a:cxnSpLocks/>
          </p:cNvCxnSpPr>
          <p:nvPr/>
        </p:nvCxnSpPr>
        <p:spPr>
          <a:xfrm>
            <a:off x="15500350" y="10805160"/>
            <a:ext cx="48196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22">
            <a:extLst>
              <a:ext uri="{FF2B5EF4-FFF2-40B4-BE49-F238E27FC236}">
                <a16:creationId xmlns:a16="http://schemas.microsoft.com/office/drawing/2014/main" id="{970B7F86-F410-4D67-A345-220D528E7956}"/>
              </a:ext>
            </a:extLst>
          </p:cNvPr>
          <p:cNvSpPr txBox="1"/>
          <p:nvPr/>
        </p:nvSpPr>
        <p:spPr>
          <a:xfrm>
            <a:off x="20332975" y="10559443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dirty="0">
                <a:solidFill>
                  <a:srgbClr val="242424"/>
                </a:solidFill>
                <a:latin typeface="Cinzel Bold"/>
              </a:rPr>
              <a:t>8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076700" y="172021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7065" spc="-71" dirty="0">
                <a:solidFill>
                  <a:srgbClr val="242424"/>
                </a:solidFill>
                <a:latin typeface="MapoDPP"/>
              </a:rPr>
              <a:t>배경 및 목적 </a:t>
            </a:r>
            <a:endParaRPr lang="ko-KR" altLang="en-US" sz="7065" b="0" i="0" u="none" strike="noStrike" spc="-71" dirty="0">
              <a:solidFill>
                <a:srgbClr val="242424"/>
              </a:solidFill>
              <a:latin typeface="MapoDPP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098165"/>
            <a:ext cx="22579965" cy="10012045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62100" y="1257300"/>
            <a:ext cx="2514600" cy="2514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6200" y="-304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A800-9A4E-43C4-C7A9-C1971D9BD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239350E-2052-5858-206B-C37F9396784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5B71562B-F22E-664A-DA0E-F23A4079E8D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77A6FBB3-6677-5D56-DECD-9C4231EB019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62100" y="1257300"/>
            <a:ext cx="2514600" cy="25146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815FDE6F-CB93-9B04-0898-3A0D76F9397D}"/>
              </a:ext>
            </a:extLst>
          </p:cNvPr>
          <p:cNvSpPr txBox="1"/>
          <p:nvPr/>
        </p:nvSpPr>
        <p:spPr>
          <a:xfrm>
            <a:off x="4076700" y="182852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7065" b="0" i="0" u="none" strike="noStrike" spc="-71" dirty="0">
                <a:solidFill>
                  <a:srgbClr val="242424"/>
                </a:solidFill>
                <a:latin typeface="MapoDPP"/>
              </a:rPr>
              <a:t>배경 및 목적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A7D02219-4D47-CACB-0F2B-FE73C5DAC8A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16000" y="4584700"/>
            <a:ext cx="22402800" cy="76454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165975C6-9A98-54CF-3A95-4D6B9FB561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1600" y="-215900"/>
            <a:ext cx="5486400" cy="5486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AC551B92-9918-3185-399E-CD84D8384204}"/>
              </a:ext>
            </a:extLst>
          </p:cNvPr>
          <p:cNvSpPr txBox="1"/>
          <p:nvPr/>
        </p:nvSpPr>
        <p:spPr>
          <a:xfrm>
            <a:off x="1562100" y="4863825"/>
            <a:ext cx="21450300" cy="7023650"/>
          </a:xfrm>
          <a:prstGeom prst="rect">
            <a:avLst/>
          </a:prstGeom>
        </p:spPr>
        <p:txBody>
          <a:bodyPr anchor="t"/>
          <a:lstStyle/>
          <a:p>
            <a:r>
              <a:rPr lang="ko-KR" altLang="en-US" sz="3600" dirty="0"/>
              <a:t>최근 탄소중립 시나리오와 신재생에너지 의무할당제</a:t>
            </a:r>
            <a:r>
              <a:rPr lang="en-US" altLang="ko-KR" sz="3600" dirty="0"/>
              <a:t>(RPS) </a:t>
            </a:r>
            <a:r>
              <a:rPr lang="ko-KR" altLang="en-US" sz="3600" dirty="0"/>
              <a:t>확대 등 정부의 에너지 전환 정책에 힘입어 국내 태양광 발전 설비는 전국적으로 가파른 보급 확대를 보이고 있습니다</a:t>
            </a:r>
            <a:r>
              <a:rPr lang="en-US" altLang="ko-KR" sz="3600" dirty="0"/>
              <a:t>. </a:t>
            </a:r>
            <a:r>
              <a:rPr lang="ko-KR" altLang="en-US" sz="3600" dirty="0"/>
              <a:t>실제로 </a:t>
            </a:r>
            <a:r>
              <a:rPr lang="en-US" altLang="ko-KR" sz="3600" dirty="0"/>
              <a:t>2021</a:t>
            </a:r>
            <a:r>
              <a:rPr lang="ko-KR" altLang="en-US" sz="3600" dirty="0"/>
              <a:t>년부터 </a:t>
            </a:r>
            <a:r>
              <a:rPr lang="en-US" altLang="ko-KR" sz="3600" dirty="0"/>
              <a:t>2024</a:t>
            </a:r>
            <a:r>
              <a:rPr lang="ko-KR" altLang="en-US" sz="3600" dirty="0"/>
              <a:t>년까지의 실적을 살펴보면</a:t>
            </a:r>
            <a:r>
              <a:rPr lang="en-US" altLang="ko-KR" sz="3600" dirty="0"/>
              <a:t>, </a:t>
            </a:r>
            <a:r>
              <a:rPr lang="ko-KR" altLang="en-US" sz="3600" dirty="0">
                <a:solidFill>
                  <a:srgbClr val="FF0000"/>
                </a:solidFill>
              </a:rPr>
              <a:t>전국 시도별 설비 용량은 매년 지속적인 성장을 기록</a:t>
            </a:r>
            <a:r>
              <a:rPr lang="ko-KR" altLang="en-US" sz="3600" dirty="0"/>
              <a:t>하며 </a:t>
            </a:r>
            <a:r>
              <a:rPr lang="ko-KR" altLang="en-US" sz="3600" dirty="0">
                <a:solidFill>
                  <a:srgbClr val="FF0000"/>
                </a:solidFill>
              </a:rPr>
              <a:t>국내 신재생에너지의 핵심 전력원</a:t>
            </a:r>
            <a:r>
              <a:rPr lang="ko-KR" altLang="en-US" sz="3600" dirty="0"/>
              <a:t>으로 자리 잡았습니다</a:t>
            </a:r>
            <a:r>
              <a:rPr lang="en-US" altLang="ko-KR" sz="3600" dirty="0"/>
              <a:t>.</a:t>
            </a:r>
          </a:p>
          <a:p>
            <a:r>
              <a:rPr lang="ko-KR" altLang="en-US" sz="3600" dirty="0"/>
              <a:t>하지만 이러한 양적 성장에도 불구하고</a:t>
            </a:r>
            <a:r>
              <a:rPr lang="en-US" altLang="ko-KR" sz="3600" dirty="0"/>
              <a:t>, </a:t>
            </a:r>
            <a:r>
              <a:rPr lang="ko-KR" altLang="en-US" sz="3600" dirty="0"/>
              <a:t>태양광 발전은 입지 조건에 따른 발전 효율 편차가 매우 크게 나타나고 있습니다</a:t>
            </a:r>
            <a:r>
              <a:rPr lang="en-US" altLang="ko-KR" sz="3600" dirty="0"/>
              <a:t>. </a:t>
            </a:r>
            <a:r>
              <a:rPr lang="ko-KR" altLang="en-US" sz="3600" dirty="0">
                <a:solidFill>
                  <a:srgbClr val="FF0000"/>
                </a:solidFill>
              </a:rPr>
              <a:t>전남</a:t>
            </a:r>
            <a:r>
              <a:rPr lang="en-US" altLang="ko-KR" sz="3600" dirty="0">
                <a:solidFill>
                  <a:srgbClr val="FF0000"/>
                </a:solidFill>
              </a:rPr>
              <a:t>, </a:t>
            </a:r>
            <a:r>
              <a:rPr lang="ko-KR" altLang="en-US" sz="3600" dirty="0">
                <a:solidFill>
                  <a:srgbClr val="FF0000"/>
                </a:solidFill>
              </a:rPr>
              <a:t>경북 등 일사량이 풍부한 남부권에 설비가 집중</a:t>
            </a:r>
            <a:r>
              <a:rPr lang="ko-KR" altLang="en-US" sz="3600" dirty="0"/>
              <a:t>되어 있으나</a:t>
            </a:r>
            <a:r>
              <a:rPr lang="en-US" altLang="ko-KR" sz="3600" dirty="0"/>
              <a:t>, </a:t>
            </a:r>
            <a:r>
              <a:rPr lang="ko-KR" altLang="en-US" sz="3600" dirty="0"/>
              <a:t>최근 이상기후로 인한 기록적인 폭염과 지역별 미세먼지 농도 차이 등 </a:t>
            </a:r>
            <a:r>
              <a:rPr lang="ko-KR" altLang="en-US" sz="3600" dirty="0">
                <a:solidFill>
                  <a:srgbClr val="FF0000"/>
                </a:solidFill>
              </a:rPr>
              <a:t>기상 요인이 실제 발전량에 미치는 영향</a:t>
            </a:r>
            <a:r>
              <a:rPr lang="ko-KR" altLang="en-US" sz="3600" dirty="0"/>
              <a:t>이 커지고 있습니다</a:t>
            </a:r>
            <a:r>
              <a:rPr lang="en-US" altLang="ko-KR" sz="3600" dirty="0"/>
              <a:t>. </a:t>
            </a:r>
            <a:r>
              <a:rPr lang="ko-KR" altLang="en-US" sz="3600" dirty="0"/>
              <a:t>이는 </a:t>
            </a:r>
            <a:r>
              <a:rPr lang="ko-KR" altLang="en-US" sz="3600" dirty="0">
                <a:solidFill>
                  <a:srgbClr val="FF0000"/>
                </a:solidFill>
              </a:rPr>
              <a:t>단순 설비 증설만으로는 안정적인 전력 공급을 보장하기 어렵다</a:t>
            </a:r>
            <a:r>
              <a:rPr lang="ko-KR" altLang="en-US" sz="3600" dirty="0"/>
              <a:t>는 점을 시사합니다</a:t>
            </a:r>
            <a:r>
              <a:rPr lang="en-US" altLang="ko-KR" sz="3600" dirty="0"/>
              <a:t>.</a:t>
            </a:r>
          </a:p>
          <a:p>
            <a:r>
              <a:rPr lang="ko-KR" altLang="en-US" sz="3600" dirty="0"/>
              <a:t>현재 제공되는 태양광 데이터는 주로 단순 발전량 합계나 설비 현황 위주의 수치로 구성되어 있어</a:t>
            </a:r>
            <a:r>
              <a:rPr lang="en-US" altLang="ko-KR" sz="3600" dirty="0"/>
              <a:t>, </a:t>
            </a:r>
            <a:r>
              <a:rPr lang="ko-KR" altLang="en-US" sz="3600" dirty="0"/>
              <a:t>기온 변화에 따른 발전 효율 저하</a:t>
            </a:r>
            <a:r>
              <a:rPr lang="en-US" altLang="ko-KR" sz="3600" dirty="0"/>
              <a:t>(</a:t>
            </a:r>
            <a:r>
              <a:rPr lang="ko-KR" altLang="en-US" sz="3600" dirty="0"/>
              <a:t>온도계수</a:t>
            </a:r>
            <a:r>
              <a:rPr lang="en-US" altLang="ko-KR" sz="3600" dirty="0"/>
              <a:t>)</a:t>
            </a:r>
            <a:r>
              <a:rPr lang="ko-KR" altLang="en-US" sz="3600" dirty="0"/>
              <a:t>와 같은 실질적인 변수들이 정량적으로 충분히 고려되지 않고 있습니다</a:t>
            </a:r>
            <a:r>
              <a:rPr lang="en-US" altLang="ko-KR" sz="3600" dirty="0"/>
              <a:t>. </a:t>
            </a:r>
            <a:r>
              <a:rPr lang="ko-KR" altLang="en-US" sz="3600" dirty="0"/>
              <a:t>따라서 </a:t>
            </a:r>
            <a:r>
              <a:rPr lang="ko-KR" altLang="en-US" sz="3600" dirty="0">
                <a:solidFill>
                  <a:srgbClr val="FF0000"/>
                </a:solidFill>
              </a:rPr>
              <a:t>전국 지역별 발전량과 기상 데이터를 결합하여 발전 효율의 최적 지역을 도출</a:t>
            </a:r>
            <a:r>
              <a:rPr lang="ko-KR" altLang="en-US" sz="3600" dirty="0"/>
              <a:t>하고</a:t>
            </a:r>
            <a:r>
              <a:rPr lang="en-US" altLang="ko-KR" sz="3600" dirty="0"/>
              <a:t>, </a:t>
            </a:r>
            <a:r>
              <a:rPr lang="ko-KR" altLang="en-US" sz="3600" dirty="0">
                <a:solidFill>
                  <a:srgbClr val="FF0000"/>
                </a:solidFill>
              </a:rPr>
              <a:t>지역 특성에 맞는 유지보수 및 입지 전략을 수립</a:t>
            </a:r>
            <a:r>
              <a:rPr lang="ko-KR" altLang="en-US" sz="3600" dirty="0"/>
              <a:t>하는 것이 탄소중립 목표 달성을 위한 핵심 과제입니다</a:t>
            </a:r>
            <a:r>
              <a:rPr lang="en-US" altLang="ko-KR" sz="3600" dirty="0"/>
              <a:t>.</a:t>
            </a:r>
          </a:p>
          <a:p>
            <a:pPr lvl="0" algn="l">
              <a:lnSpc>
                <a:spcPct val="204000"/>
              </a:lnSpc>
              <a:defRPr/>
            </a:pPr>
            <a:endParaRPr lang="en-GB" sz="4400" b="0" i="0" u="none" strike="noStrike" spc="-317" dirty="0">
              <a:solidFill>
                <a:srgbClr val="000000"/>
              </a:solidFill>
              <a:latin typeface="Pretendard Regular"/>
              <a:ea typeface="Pretendard Regular"/>
            </a:endParaRPr>
          </a:p>
          <a:p>
            <a:pPr lvl="0" algn="l">
              <a:lnSpc>
                <a:spcPct val="204000"/>
              </a:lnSpc>
              <a:defRPr/>
            </a:pPr>
            <a:endParaRPr lang="en-GB" sz="4400" b="0" i="0" u="none" strike="noStrike" spc="-317" dirty="0">
              <a:solidFill>
                <a:srgbClr val="000000"/>
              </a:solidFill>
              <a:latin typeface="Pretendard Regular"/>
              <a:ea typeface="Pretendard Regular"/>
            </a:endParaRPr>
          </a:p>
        </p:txBody>
      </p:sp>
    </p:spTree>
    <p:extLst>
      <p:ext uri="{BB962C8B-B14F-4D97-AF65-F5344CB8AC3E}">
        <p14:creationId xmlns:p14="http://schemas.microsoft.com/office/powerpoint/2010/main" val="58202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62100" y="12573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076700" y="182852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7065" b="0" i="0" u="none" strike="noStrike" spc="-71" dirty="0">
                <a:solidFill>
                  <a:srgbClr val="242424"/>
                </a:solidFill>
                <a:latin typeface="MapoDPP"/>
              </a:rPr>
              <a:t>배경 및 목적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16000" y="4584700"/>
            <a:ext cx="22402800" cy="7645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1600" y="-215900"/>
            <a:ext cx="5486400" cy="5486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562099" y="4800600"/>
            <a:ext cx="21450300" cy="65532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4000"/>
              </a:lnSpc>
              <a:defRPr/>
            </a:pPr>
            <a:r>
              <a:rPr lang="en-US" sz="4535" b="0" i="0" u="none" strike="noStrike" spc="-317" dirty="0">
                <a:solidFill>
                  <a:srgbClr val="000000"/>
                </a:solidFill>
                <a:latin typeface="Pretendard Regular"/>
              </a:rPr>
              <a:t>-</a:t>
            </a:r>
            <a:r>
              <a:rPr lang="ko-KR" altLang="en-US" sz="4400" b="0" i="0" u="none" strike="noStrike" spc="-317" dirty="0">
                <a:solidFill>
                  <a:srgbClr val="000000"/>
                </a:solidFill>
                <a:latin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분석의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목적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: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단순한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ko-KR" altLang="en-US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태양광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설치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확대가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아닌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,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데이터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분석을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통한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>
                <a:solidFill>
                  <a:srgbClr val="FF0000"/>
                </a:solidFill>
                <a:latin typeface="Pretendard Regular"/>
                <a:ea typeface="Pretendard Regular"/>
              </a:rPr>
              <a:t>'</a:t>
            </a:r>
            <a:r>
              <a:rPr lang="ko-KR" altLang="en-US" sz="4400" b="0" i="0" u="sng" strike="noStrike" spc="-317" dirty="0">
                <a:solidFill>
                  <a:srgbClr val="FF0000"/>
                </a:solidFill>
                <a:latin typeface="Pretendard Regular"/>
                <a:ea typeface="Pretendard Regular"/>
              </a:rPr>
              <a:t>최적의</a:t>
            </a:r>
            <a:r>
              <a:rPr lang="en-GB" sz="4400" b="0" i="0" u="sng" strike="noStrike" spc="-317" dirty="0">
                <a:solidFill>
                  <a:srgbClr val="FF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sng" strike="noStrike" spc="-317" dirty="0" err="1">
                <a:solidFill>
                  <a:srgbClr val="FF0000"/>
                </a:solidFill>
                <a:latin typeface="Pretendard Regular"/>
                <a:ea typeface="Pretendard Regular"/>
              </a:rPr>
              <a:t>효율</a:t>
            </a:r>
            <a:r>
              <a:rPr lang="ko-KR" altLang="en-US" sz="4400" b="0" i="0" u="sng" strike="noStrike" spc="-317" dirty="0">
                <a:solidFill>
                  <a:srgbClr val="FF0000"/>
                </a:solidFill>
                <a:latin typeface="Pretendard Regular"/>
                <a:ea typeface="Pretendard Regular"/>
              </a:rPr>
              <a:t> 분석</a:t>
            </a:r>
            <a:r>
              <a:rPr lang="en-GB" sz="4400" b="0" i="0" u="none" strike="noStrike" spc="-317" dirty="0">
                <a:solidFill>
                  <a:srgbClr val="FF0000"/>
                </a:solidFill>
                <a:latin typeface="Pretendard Regular"/>
                <a:ea typeface="Pretendard Regular"/>
              </a:rPr>
              <a:t>' </a:t>
            </a:r>
            <a:r>
              <a:rPr lang="ko-KR" altLang="en-US" sz="4400" b="0" i="0" u="none" strike="noStrike" spc="-317" dirty="0">
                <a:solidFill>
                  <a:schemeClr val="tx1"/>
                </a:solidFill>
                <a:latin typeface="Pretendard Regular"/>
                <a:ea typeface="Pretendard Regular"/>
              </a:rPr>
              <a:t>을</a:t>
            </a:r>
            <a:r>
              <a:rPr lang="ko-KR" altLang="en-US" sz="4400" b="0" i="0" u="none" strike="noStrike" spc="-317" dirty="0">
                <a:solidFill>
                  <a:srgbClr val="FF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파악</a:t>
            </a:r>
            <a:endParaRPr lang="en-GB" sz="4400" b="0" i="0" u="none" strike="noStrike" spc="-317" dirty="0">
              <a:solidFill>
                <a:srgbClr val="000000"/>
              </a:solidFill>
              <a:latin typeface="Pretendard Regular"/>
              <a:ea typeface="Pretendard Regular"/>
            </a:endParaRPr>
          </a:p>
          <a:p>
            <a:pPr lvl="0" algn="l">
              <a:lnSpc>
                <a:spcPct val="204000"/>
              </a:lnSpc>
              <a:defRPr/>
            </a:pPr>
            <a:r>
              <a:rPr lang="en-US" altLang="ko-KR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-</a:t>
            </a:r>
            <a:r>
              <a:rPr lang="ko-KR" altLang="en-US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활용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데이터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:</a:t>
            </a:r>
          </a:p>
          <a:p>
            <a:pPr lvl="0" algn="l">
              <a:lnSpc>
                <a:spcPct val="204000"/>
              </a:lnSpc>
              <a:defRPr/>
            </a:pP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2021~2024년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지역별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/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월별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실제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발전량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및 </a:t>
            </a:r>
            <a:r>
              <a:rPr lang="ko-KR" altLang="en-US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누적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설비용량</a:t>
            </a:r>
            <a:endParaRPr lang="ko-KR" altLang="en-US" sz="4400" b="0" i="0" u="none" strike="noStrike" spc="-317" dirty="0">
              <a:solidFill>
                <a:srgbClr val="000000"/>
              </a:solidFill>
              <a:latin typeface="Pretendard Regular"/>
              <a:ea typeface="Pretendard Regular"/>
            </a:endParaRPr>
          </a:p>
          <a:p>
            <a:pPr lvl="0" algn="l">
              <a:lnSpc>
                <a:spcPct val="204000"/>
              </a:lnSpc>
              <a:defRPr/>
            </a:pP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대기권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밖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일사량</a:t>
            </a:r>
            <a:r>
              <a:rPr lang="ko-KR" altLang="en-US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: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지구가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받는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순수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에너지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(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이론적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최대치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)</a:t>
            </a:r>
          </a:p>
          <a:p>
            <a:pPr lvl="0" algn="l">
              <a:lnSpc>
                <a:spcPct val="204000"/>
              </a:lnSpc>
              <a:defRPr/>
            </a:pP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평균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기온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데이터</a:t>
            </a:r>
            <a:r>
              <a:rPr lang="ko-KR" altLang="en-US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: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기온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변화에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따른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발전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효율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상관관계</a:t>
            </a:r>
            <a:r>
              <a:rPr lang="en-GB" sz="4400" b="0" i="0" u="none" strike="noStrike" spc="-317" dirty="0">
                <a:solidFill>
                  <a:srgbClr val="000000"/>
                </a:solidFill>
                <a:latin typeface="Pretendard Regular"/>
                <a:ea typeface="Pretendard Regular"/>
              </a:rPr>
              <a:t> </a:t>
            </a:r>
            <a:r>
              <a:rPr lang="en-GB" sz="4400" b="0" i="0" u="none" strike="noStrike" spc="-317" dirty="0" err="1">
                <a:solidFill>
                  <a:srgbClr val="000000"/>
                </a:solidFill>
                <a:latin typeface="Pretendard Regular"/>
                <a:ea typeface="Pretendard Regular"/>
              </a:rPr>
              <a:t>도출</a:t>
            </a:r>
            <a:endParaRPr lang="en-GB" sz="4400" b="0" i="0" u="none" strike="noStrike" spc="-317" dirty="0">
              <a:solidFill>
                <a:srgbClr val="000000"/>
              </a:solidFill>
              <a:latin typeface="Pretendard Regular"/>
              <a:ea typeface="Pretendard Regula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547427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지역별 편차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02335" y="3676650"/>
            <a:ext cx="22607904" cy="945515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8592800" y="914400"/>
            <a:ext cx="4775200" cy="4394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457200" y="2413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547427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지역별 편차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592800" y="914400"/>
            <a:ext cx="4775200" cy="4394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57200" y="241300"/>
            <a:ext cx="5486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7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547427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지역별 편차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592800" y="914400"/>
            <a:ext cx="4775200" cy="4394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57200" y="241300"/>
            <a:ext cx="5486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374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358900" y="5422900"/>
            <a:ext cx="4381500" cy="6692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635500" y="9791700"/>
            <a:ext cx="876300" cy="1308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146800" y="3810000"/>
            <a:ext cx="17399000" cy="86868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7000"/>
              </a:lnSpc>
              <a:defRPr/>
            </a:pPr>
            <a:r>
              <a:rPr lang="en-US" sz="4510" b="1" i="0" u="none" strike="noStrike" spc="-361">
                <a:solidFill>
                  <a:srgbClr val="FFFFFF"/>
                </a:solidFill>
                <a:latin typeface="Pretendard Regular"/>
              </a:rPr>
              <a:t>-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17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시도별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발전량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비교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결과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남부권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(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경북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등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)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발전량의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상당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부분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차지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일사량이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풍부한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남부지역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중심으로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설비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집중되어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실적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격차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뚜렷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기상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환경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(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일사량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기온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미세먼지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등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)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에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따른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효율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차이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발생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특성을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고려한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맞춤형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전략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수립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필요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발전량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편차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월별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/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계절별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패턴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28800" y="4749800"/>
            <a:ext cx="7734300" cy="765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575800" y="4902200"/>
            <a:ext cx="13550900" cy="74422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1671300" y="5715000"/>
            <a:ext cx="10426700" cy="787400"/>
          </a:xfrm>
          <a:prstGeom prst="rect">
            <a:avLst/>
          </a:prstGeom>
        </p:spPr>
        <p:txBody>
          <a:bodyPr anchor="b"/>
          <a:lstStyle/>
          <a:p>
            <a:pPr lvl="0" algn="l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계절에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따른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태양광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발전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효율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변화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9601200" y="6858000"/>
            <a:ext cx="13411200" cy="43942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207000"/>
              </a:lnSpc>
              <a:defRPr/>
            </a:pPr>
            <a:r>
              <a:rPr lang="en-GB" sz="3300" b="1" i="0" u="none" strike="noStrike" spc="-154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1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~12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발전량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분석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결과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,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일조시간이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~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여름철에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발전량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집중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일사량이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가장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풍부한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여름철보다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기온이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적당한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월경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효율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피크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발생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고온으로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인한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'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온도계수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'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현상으로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패널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효율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저하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확인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계절별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특성을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고려한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발전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시스템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최적화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및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유지보수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전략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필요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59000" y="6832600"/>
            <a:ext cx="4775200" cy="4394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>
            <a:alphaModFix amt="50000"/>
          </a:blip>
          <a:stretch>
            <a:fillRect/>
          </a:stretch>
        </p:blipFill>
        <p:spPr>
          <a:xfrm>
            <a:off x="838200" y="3581400"/>
            <a:ext cx="22631400" cy="9512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336800" y="10121900"/>
            <a:ext cx="774700" cy="1155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7416799" y="6248400"/>
            <a:ext cx="15824200" cy="68326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기본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원리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결정하는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가장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근본적인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요소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차이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남부권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전남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,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경북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연평균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수도권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10~15%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높음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계절적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변동성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봄철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(4~5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가을철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(9~10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에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가장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높게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나타남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측정의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중요성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대기권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밖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지표면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도달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차이가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실제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발전량에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직접적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영향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데이터를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기반으로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모델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구축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필요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81100" y="4622800"/>
            <a:ext cx="8801100" cy="9017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일사량과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발전량의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정비례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관계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기상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요인과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효율의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상관관계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63800" y="6591300"/>
            <a:ext cx="4775200" cy="4394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>
            <a:alphaModFix amt="50000"/>
          </a:blip>
          <a:stretch>
            <a:fillRect/>
          </a:stretch>
        </p:blipFill>
        <p:spPr>
          <a:xfrm>
            <a:off x="927100" y="3454400"/>
            <a:ext cx="22491700" cy="9512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070100" y="9855200"/>
            <a:ext cx="774700" cy="1155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8013699" y="5486400"/>
            <a:ext cx="15074900" cy="75438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'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온도계수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현상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상승할수록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감소하는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특성을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가짐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임계점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발견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데이터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분석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결과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25°C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이상에서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급격히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저하되기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시작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계절별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비교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5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적정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8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폭염기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의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차이는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10~15%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달함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영향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남부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해안지역은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고온으로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내륙지역보다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종류별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P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모듈보다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N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상승에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따른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적음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대응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전략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필요성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고온기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최소화하기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도입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검토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2499" y="4267200"/>
            <a:ext cx="8267700" cy="9017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기온의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역설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: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온도계수의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실체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기상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요인과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효율의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상관관계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794000" y="4597400"/>
            <a:ext cx="18796000" cy="2438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3289300" y="5435600"/>
            <a:ext cx="51689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고온으로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인한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저하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현상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45500" y="50038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전남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경남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평균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28~32°C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저하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온도계수로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손실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연간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8~12%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추정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특히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해안가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고습도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환경에서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저하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가속화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794000" y="7353300"/>
            <a:ext cx="18796000" cy="2438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794000" y="10109200"/>
            <a:ext cx="18796000" cy="2438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특화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남부권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92500" y="8255000"/>
            <a:ext cx="45466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수상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태양광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도입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필요성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45500" y="77597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자연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극대화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육상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3~5%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향상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농경지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산림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훼손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없이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유휴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가능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30600" y="11010900"/>
            <a:ext cx="45466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냉각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시스템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도입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방안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45500" y="105156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'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하이드로겔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공냉식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수냉식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하이브리드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냉각장치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패널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각도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최적화를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자연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통풍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극대화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28700" y="8763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213600" y="-31496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8200" y="1866900"/>
            <a:ext cx="2514600" cy="2514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905000" y="8178800"/>
            <a:ext cx="10261600" cy="4089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13000" y="8305800"/>
            <a:ext cx="9169400" cy="38354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서울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경기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미세먼지로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수광량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감소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문제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자동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도입으로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5~7%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향상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가능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도심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건물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옥상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오염물질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축적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방지를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경사각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최적화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필요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정기적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관리를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안정화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2496800" y="4826000"/>
            <a:ext cx="10261600" cy="40894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3042900" y="5410200"/>
            <a:ext cx="9169400" cy="5207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33000"/>
              </a:lnSpc>
              <a:defRPr/>
            </a:pP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도심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오염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관리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방안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19400" y="6070600"/>
            <a:ext cx="8445500" cy="7874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적설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대비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전략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202400" y="1308100"/>
            <a:ext cx="3479800" cy="3175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427700" y="1282700"/>
            <a:ext cx="774700" cy="1155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 rot="16800000">
            <a:off x="22910800" y="2997200"/>
            <a:ext cx="254000" cy="2540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 rot="16800000">
            <a:off x="22948900" y="2374900"/>
            <a:ext cx="330200" cy="317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 rot="16800000">
            <a:off x="18834100" y="2298700"/>
            <a:ext cx="127000" cy="1270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4876800" y="2082800"/>
            <a:ext cx="136398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특화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수도권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/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중부권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411200" y="9829800"/>
            <a:ext cx="8445500" cy="7874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유지보수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최적화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673100" y="3175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결과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요약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727200" y="4813300"/>
            <a:ext cx="4787900" cy="8089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644900" y="5270500"/>
            <a:ext cx="952500" cy="9525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2489200" y="62865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양적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성장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2600" y="6858000"/>
            <a:ext cx="4724400" cy="3873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4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20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21~2024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설비용량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급증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전국적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인프라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확대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획일적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보급으로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특성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미반영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양적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성장에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치중한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정책의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한계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7868900" y="4813300"/>
            <a:ext cx="4787900" cy="8013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85420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데이터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관리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983200" y="6858000"/>
            <a:ext cx="4648200" cy="3873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4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기상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데이터와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연계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분석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필요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맞춤형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운영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전략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수립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실시간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모니터링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시스템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모델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고도화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2484100" y="4826000"/>
            <a:ext cx="4787900" cy="79502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31318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편차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573000" y="6858000"/>
            <a:ext cx="4648200" cy="33147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남부권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고온으로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효율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저하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도심권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오염물질로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수광량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감소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산간지역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적설로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발전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중단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7112000" y="4826000"/>
            <a:ext cx="4787900" cy="79883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78740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임계점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62800" y="6858000"/>
            <a:ext cx="4724400" cy="27559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- 25°C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이상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급감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봄철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(5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)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여름철보다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10~15%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우수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온도계수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현상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입증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특화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필요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029700" y="5270500"/>
            <a:ext cx="952500" cy="952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19786600" y="5270500"/>
            <a:ext cx="952500" cy="952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4401800" y="5270500"/>
            <a:ext cx="952500" cy="952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08000" y="177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597400" y="1803400"/>
            <a:ext cx="16085185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향후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전략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맞춤형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최적화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로드맵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333500" y="4813300"/>
            <a:ext cx="4216400" cy="81915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971800" y="5130800"/>
            <a:ext cx="952500" cy="9525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778000" y="61722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설계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821400" y="4813300"/>
            <a:ext cx="4216400" cy="8089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202400" y="62738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기대효과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2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715000" y="4813300"/>
            <a:ext cx="4216400" cy="82169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715000" y="6858000"/>
            <a:ext cx="4185285" cy="49784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58000"/>
              </a:lnSpc>
              <a:defRPr/>
            </a:pPr>
            <a:r>
              <a:rPr lang="en-US" sz="2935" b="0" i="0" u="none" strike="noStrike" spc="-234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N-type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등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민감도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낮은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차세대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실시간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연동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'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지능형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자가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코팅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기술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적용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스마트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인버터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도입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57900" y="61468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기술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10083800" y="4838700"/>
            <a:ext cx="4216400" cy="81534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0452100" y="61341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관리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14452600" y="4838700"/>
            <a:ext cx="4216400" cy="80899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4897100" y="62357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기대효과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1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7340600" y="5130800"/>
            <a:ext cx="952500" cy="9525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6090900" y="5130800"/>
            <a:ext cx="952500" cy="952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11722100" y="5130800"/>
            <a:ext cx="952500" cy="952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20459700" y="5130800"/>
            <a:ext cx="952500" cy="952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371600" y="6858000"/>
            <a:ext cx="4191000" cy="49911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: '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방열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의무화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최적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경사각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산출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적용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건물형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(BIPV)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확대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양면형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활용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140950" y="6858000"/>
            <a:ext cx="4260850" cy="4635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83000"/>
              </a:lnSpc>
              <a:defRPr/>
            </a:pPr>
            <a:r>
              <a:rPr lang="en-US" sz="2935" b="0" i="0" u="none" strike="noStrike" spc="-247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모니터링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예지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정비</a:t>
            </a:r>
            <a:endParaRPr lang="en-US" sz="2800" b="0" i="0" u="none" strike="noStrike" spc="-247">
              <a:solidFill>
                <a:srgbClr val="242424"/>
              </a:solidFill>
              <a:latin typeface="Pretendard Light"/>
            </a:endParaRP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도심권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미세먼지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대응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'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자동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로봇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운영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기상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데이터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연계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운영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구</a:t>
            </a:r>
            <a:r>
              <a:rPr lang="ko-KR" sz="2800" b="0" i="0" u="none" strike="noStrike" spc="-147">
                <a:solidFill>
                  <a:srgbClr val="242424"/>
                </a:solidFill>
                <a:ea typeface="Pretendard Light"/>
              </a:rPr>
              <a:t>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478000" y="6858000"/>
            <a:ext cx="4267200" cy="46990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수익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극대화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손실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방지로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전국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평균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발전량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5~8%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향상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설비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수명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연장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적절한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관리로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패널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수명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15~20%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증가</a:t>
            </a:r>
            <a:endParaRPr lang="ko-KR" sz="2900" b="0" i="0" u="none" strike="noStrike" spc="-10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8745200" y="6858000"/>
            <a:ext cx="4267200" cy="45847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81000"/>
              </a:lnSpc>
              <a:defRPr/>
            </a:pPr>
            <a:r>
              <a:rPr lang="en-US" sz="2935" b="0" i="0" u="none" strike="noStrike" spc="-234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34">
                <a:solidFill>
                  <a:srgbClr val="242424"/>
                </a:solidFill>
                <a:ea typeface="Pretendard Light"/>
              </a:rPr>
              <a:t>전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력망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안정화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효율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예측을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안정적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공급망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정책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신뢰도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제고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지도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시각화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데이터로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국민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이해와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참여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확대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508000" y="177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1106</Words>
  <Application>Microsoft Office PowerPoint</Application>
  <PresentationFormat>사용자 지정</PresentationFormat>
  <Paragraphs>148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Cinzel Bold</vt:lpstr>
      <vt:lpstr>MapoDPP</vt:lpstr>
      <vt:lpstr>Pretendard Bold</vt:lpstr>
      <vt:lpstr>Pretendard Light</vt:lpstr>
      <vt:lpstr>Pretendard Regular</vt:lpstr>
      <vt:lpstr>Pretendard SemiBold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Jekin Moon</cp:lastModifiedBy>
  <cp:revision>33</cp:revision>
  <dcterms:created xsi:type="dcterms:W3CDTF">2006-08-16T00:00:00Z</dcterms:created>
  <dcterms:modified xsi:type="dcterms:W3CDTF">2025-12-29T00:41:31Z</dcterms:modified>
  <cp:version/>
</cp:coreProperties>
</file>