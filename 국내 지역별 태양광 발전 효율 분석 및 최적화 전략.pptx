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2" r:id="rId1"/>
  </p:sldMasterIdLst>
  <p:sldIdLst>
    <p:sldId id="256" r:id="rId2"/>
    <p:sldId id="257" r:id="rId3"/>
    <p:sldId id="276" r:id="rId4"/>
    <p:sldId id="268" r:id="rId5"/>
    <p:sldId id="273" r:id="rId6"/>
    <p:sldId id="259" r:id="rId7"/>
    <p:sldId id="274" r:id="rId8"/>
    <p:sldId id="275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>
          <p15:clr>
            <a:srgbClr val="A4A3A4"/>
          </p15:clr>
        </p15:guide>
        <p15:guide id="2" pos="289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8" d="100"/>
          <a:sy n="38" d="100"/>
        </p:scale>
        <p:origin x="946" y="86"/>
      </p:cViewPr>
      <p:guideLst>
        <p:guide orient="horz" pos="2183"/>
        <p:guide pos="28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6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3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3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3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4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21.png"/><Relationship Id="rId7" Type="http://schemas.openxmlformats.org/officeDocument/2006/relationships/image" Target="../media/image47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17.png"/><Relationship Id="rId7" Type="http://schemas.openxmlformats.org/officeDocument/2006/relationships/image" Target="../media/image53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11" Type="http://schemas.openxmlformats.org/officeDocument/2006/relationships/image" Target="../media/image31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66.png"/><Relationship Id="rId3" Type="http://schemas.openxmlformats.org/officeDocument/2006/relationships/image" Target="../media/image21.png"/><Relationship Id="rId7" Type="http://schemas.openxmlformats.org/officeDocument/2006/relationships/image" Target="../media/image70.png"/><Relationship Id="rId12" Type="http://schemas.openxmlformats.org/officeDocument/2006/relationships/image" Target="../media/image74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11" Type="http://schemas.openxmlformats.org/officeDocument/2006/relationships/image" Target="../media/image64.png"/><Relationship Id="rId5" Type="http://schemas.openxmlformats.org/officeDocument/2006/relationships/image" Target="../media/image69.png"/><Relationship Id="rId15" Type="http://schemas.openxmlformats.org/officeDocument/2006/relationships/image" Target="../media/image31.png"/><Relationship Id="rId10" Type="http://schemas.openxmlformats.org/officeDocument/2006/relationships/image" Target="../media/image73.png"/><Relationship Id="rId4" Type="http://schemas.openxmlformats.org/officeDocument/2006/relationships/image" Target="../media/image68.png"/><Relationship Id="rId9" Type="http://schemas.openxmlformats.org/officeDocument/2006/relationships/image" Target="../media/image72.png"/><Relationship Id="rId14" Type="http://schemas.openxmlformats.org/officeDocument/2006/relationships/image" Target="../media/image7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89000" y="736600"/>
            <a:ext cx="22606000" cy="3695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16200000">
            <a:off x="7112000" y="-3556000"/>
            <a:ext cx="10172700" cy="22631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133600" y="1765300"/>
            <a:ext cx="2908300" cy="2908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8846800" y="4343400"/>
            <a:ext cx="3810000" cy="8089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6">
            <a:alphaModFix amt="80000"/>
          </a:blip>
          <a:stretch>
            <a:fillRect/>
          </a:stretch>
        </p:blipFill>
        <p:spPr>
          <a:xfrm>
            <a:off x="18770600" y="9893300"/>
            <a:ext cx="254000" cy="25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21793200" y="9017000"/>
            <a:ext cx="1117600" cy="1308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8707100" y="8775700"/>
            <a:ext cx="381000" cy="3810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927100" y="4529622"/>
            <a:ext cx="17665700" cy="2819400"/>
          </a:xfrm>
          <a:prstGeom prst="rect">
            <a:avLst/>
          </a:prstGeom>
        </p:spPr>
        <p:txBody>
          <a:bodyPr lIns="0" tIns="0" rIns="0" bIns="118533" anchor="b"/>
          <a:lstStyle/>
          <a:p>
            <a:pPr lvl="0" algn="ctr">
              <a:lnSpc>
                <a:spcPct val="100000"/>
              </a:lnSpc>
              <a:defRPr/>
            </a:pPr>
            <a:r>
              <a:rPr lang="ko-KR" sz="8000" b="0" i="0" u="none" strike="noStrike" spc="-93" dirty="0">
                <a:solidFill>
                  <a:srgbClr val="242424"/>
                </a:solidFill>
                <a:ea typeface="MapoDPP"/>
              </a:rPr>
              <a:t>국내</a:t>
            </a:r>
            <a:r>
              <a:rPr lang="en-US" sz="8000" b="0" i="0" u="none" strike="noStrike" spc="-93" dirty="0">
                <a:solidFill>
                  <a:srgbClr val="242424"/>
                </a:solidFill>
                <a:latin typeface="MapoDPP"/>
              </a:rPr>
              <a:t> </a:t>
            </a:r>
            <a:r>
              <a:rPr lang="ko-KR" sz="8000" b="0" i="0" u="none" strike="noStrike" spc="-93" dirty="0">
                <a:solidFill>
                  <a:srgbClr val="242424"/>
                </a:solidFill>
                <a:ea typeface="MapoDPP"/>
              </a:rPr>
              <a:t>지역별</a:t>
            </a:r>
            <a:r>
              <a:rPr lang="en-US" sz="8000" b="0" i="0" u="none" strike="noStrike" spc="-93" dirty="0">
                <a:solidFill>
                  <a:srgbClr val="242424"/>
                </a:solidFill>
                <a:latin typeface="MapoDPP"/>
              </a:rPr>
              <a:t> </a:t>
            </a:r>
            <a:r>
              <a:rPr lang="ko-KR" sz="8000" b="0" i="0" u="none" strike="noStrike" spc="-93" dirty="0">
                <a:solidFill>
                  <a:srgbClr val="242424"/>
                </a:solidFill>
                <a:ea typeface="MapoDPP"/>
              </a:rPr>
              <a:t>태양광</a:t>
            </a:r>
            <a:r>
              <a:rPr lang="en-US" sz="8000" b="0" i="0" u="none" strike="noStrike" spc="-93" dirty="0">
                <a:solidFill>
                  <a:srgbClr val="242424"/>
                </a:solidFill>
                <a:latin typeface="MapoDPP"/>
              </a:rPr>
              <a:t> </a:t>
            </a:r>
            <a:r>
              <a:rPr lang="ko-KR" sz="8000" b="0" i="0" u="none" strike="noStrike" spc="-93" dirty="0">
                <a:solidFill>
                  <a:srgbClr val="242424"/>
                </a:solidFill>
                <a:ea typeface="MapoDPP"/>
              </a:rPr>
              <a:t>발전</a:t>
            </a:r>
            <a:r>
              <a:rPr lang="en-US" sz="8000" b="0" i="0" u="none" strike="noStrike" spc="-93" dirty="0">
                <a:solidFill>
                  <a:srgbClr val="242424"/>
                </a:solidFill>
                <a:latin typeface="MapoDPP"/>
              </a:rPr>
              <a:t> </a:t>
            </a:r>
            <a:r>
              <a:rPr lang="ko-KR" sz="8000" b="0" i="0" u="none" strike="noStrike" spc="-93" dirty="0">
                <a:solidFill>
                  <a:srgbClr val="242424"/>
                </a:solidFill>
                <a:ea typeface="MapoDPP"/>
              </a:rPr>
              <a:t>효율</a:t>
            </a:r>
            <a:r>
              <a:rPr lang="en-US" sz="8000" b="0" i="0" u="none" strike="noStrike" spc="-93" dirty="0">
                <a:solidFill>
                  <a:srgbClr val="242424"/>
                </a:solidFill>
                <a:latin typeface="MapoDPP"/>
              </a:rPr>
              <a:t> </a:t>
            </a:r>
            <a:r>
              <a:rPr lang="ko-KR" sz="8000" b="0" i="0" u="none" strike="noStrike" spc="-93" dirty="0">
                <a:solidFill>
                  <a:srgbClr val="242424"/>
                </a:solidFill>
                <a:ea typeface="MapoDPP"/>
              </a:rPr>
              <a:t>분석</a:t>
            </a:r>
            <a:r>
              <a:rPr lang="ko-KR" altLang="en-US" sz="8000" b="0" i="0" u="none" strike="noStrike" spc="-93" dirty="0">
                <a:solidFill>
                  <a:srgbClr val="242424"/>
                </a:solidFill>
                <a:ea typeface="MapoDPP"/>
              </a:rPr>
              <a:t> </a:t>
            </a:r>
            <a:r>
              <a:rPr lang="ko-KR" sz="8000" b="0" i="0" u="none" strike="noStrike" spc="-93" dirty="0">
                <a:solidFill>
                  <a:srgbClr val="242424"/>
                </a:solidFill>
                <a:ea typeface="MapoDPP"/>
              </a:rPr>
              <a:t>및</a:t>
            </a:r>
            <a:r>
              <a:rPr lang="en-US" sz="8000" b="0" i="0" u="none" strike="noStrike" spc="-93" dirty="0">
                <a:solidFill>
                  <a:srgbClr val="242424"/>
                </a:solidFill>
                <a:latin typeface="MapoDPP"/>
              </a:rPr>
              <a:t> </a:t>
            </a:r>
            <a:r>
              <a:rPr lang="ko-KR" altLang="en-US" sz="8000" b="0" i="0" u="none" strike="noStrike" spc="-93" dirty="0">
                <a:solidFill>
                  <a:srgbClr val="242424"/>
                </a:solidFill>
                <a:latin typeface="MapoDPP"/>
              </a:rPr>
              <a:t>최적화 전략</a:t>
            </a:r>
            <a:endParaRPr lang="ko-KR" sz="8000" b="0" i="0" u="none" strike="noStrike" spc="-93" dirty="0">
              <a:solidFill>
                <a:srgbClr val="242424"/>
              </a:solidFill>
              <a:ea typeface="MapoDPP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376400" y="11042651"/>
            <a:ext cx="4216400" cy="825500"/>
          </a:xfrm>
          <a:prstGeom prst="rect">
            <a:avLst/>
          </a:prstGeom>
        </p:spPr>
        <p:txBody>
          <a:bodyPr lIns="0" tIns="59267" rIns="0" bIns="0" anchor="t"/>
          <a:lstStyle/>
          <a:p>
            <a:pPr lvl="0" algn="l">
              <a:lnSpc>
                <a:spcPct val="100000"/>
              </a:lnSpc>
              <a:defRPr/>
            </a:pPr>
            <a:r>
              <a:rPr lang="ko-KR" sz="4665" b="0" i="0" u="none" strike="noStrike" dirty="0" err="1">
                <a:solidFill>
                  <a:srgbClr val="242424"/>
                </a:solidFill>
                <a:ea typeface="Pretendard SemiBold"/>
              </a:rPr>
              <a:t>백동윤</a:t>
            </a:r>
            <a:r>
              <a:rPr lang="en-US" sz="4665" b="0" i="0" u="none" strike="noStrike" dirty="0">
                <a:solidFill>
                  <a:srgbClr val="242424"/>
                </a:solidFill>
                <a:latin typeface="Pretendard SemiBold"/>
              </a:rPr>
              <a:t>   </a:t>
            </a:r>
            <a:r>
              <a:rPr lang="ko-KR" sz="4665" b="0" i="0" u="none" strike="noStrike" dirty="0" err="1">
                <a:solidFill>
                  <a:srgbClr val="242424"/>
                </a:solidFill>
                <a:ea typeface="Pretendard SemiBold"/>
              </a:rPr>
              <a:t>문상익</a:t>
            </a:r>
            <a:endParaRPr lang="ko-KR" sz="4665" b="0" i="0" u="none" strike="noStrike" dirty="0">
              <a:solidFill>
                <a:srgbClr val="242424"/>
              </a:solidFill>
              <a:ea typeface="Pretendard SemiBold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876300" y="520700"/>
            <a:ext cx="5486400" cy="5486400"/>
          </a:xfrm>
          <a:prstGeom prst="rect">
            <a:avLst/>
          </a:prstGeom>
        </p:spPr>
      </p:pic>
      <p:sp>
        <p:nvSpPr>
          <p:cNvPr id="13" name="TextBox 5">
            <a:extLst>
              <a:ext uri="{FF2B5EF4-FFF2-40B4-BE49-F238E27FC236}">
                <a16:creationId xmlns:a16="http://schemas.microsoft.com/office/drawing/2014/main" id="{215D3EE6-B16F-4AB4-8E07-0CE6CBD51B8C}"/>
              </a:ext>
            </a:extLst>
          </p:cNvPr>
          <p:cNvSpPr txBox="1"/>
          <p:nvPr/>
        </p:nvSpPr>
        <p:spPr>
          <a:xfrm>
            <a:off x="3665054" y="8054975"/>
            <a:ext cx="14605000" cy="1257300"/>
          </a:xfrm>
          <a:prstGeom prst="rect">
            <a:avLst/>
          </a:prstGeom>
        </p:spPr>
        <p:txBody>
          <a:bodyPr lIns="0" tIns="89745" rIns="0" bIns="89745" anchor="ctr"/>
          <a:lstStyle/>
          <a:p>
            <a:pPr lvl="0">
              <a:defRPr/>
            </a:pPr>
            <a:r>
              <a:rPr lang="ko-KR" altLang="en-US" sz="4000" dirty="0"/>
              <a:t>탄소중립 시대</a:t>
            </a:r>
            <a:r>
              <a:rPr lang="en-US" altLang="ko-KR" sz="4000" dirty="0"/>
              <a:t>, </a:t>
            </a:r>
            <a:r>
              <a:rPr lang="ko-KR" altLang="en-US" sz="4000" dirty="0"/>
              <a:t>지역 맞춤형 태양광 발전 효율화 방안</a:t>
            </a:r>
            <a:endParaRPr lang="ko-KR" altLang="en-US" sz="4000" b="0" i="0" u="none" strike="noStrike" spc="-71" dirty="0">
              <a:solidFill>
                <a:srgbClr val="242424"/>
              </a:solidFill>
              <a:latin typeface="MapoDPP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24384000" cy="443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16200000">
            <a:off x="6591301" y="-3952736"/>
            <a:ext cx="11172963" cy="24412436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133600" y="1765300"/>
            <a:ext cx="2908300" cy="2908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209800" y="6934200"/>
            <a:ext cx="19964400" cy="5029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3429000" y="7721600"/>
            <a:ext cx="4610100" cy="660400"/>
          </a:xfrm>
          <a:prstGeom prst="rect">
            <a:avLst/>
          </a:prstGeom>
        </p:spPr>
        <p:txBody>
          <a:bodyPr anchor="ctr"/>
          <a:lstStyle/>
          <a:p>
            <a:pPr lvl="0" algn="l">
              <a:lnSpc>
                <a:spcPct val="133000"/>
              </a:lnSpc>
              <a:defRPr/>
            </a:pPr>
            <a:r>
              <a:rPr lang="ko-KR" altLang="en-US" sz="3000" dirty="0">
                <a:solidFill>
                  <a:srgbClr val="242424"/>
                </a:solidFill>
                <a:latin typeface="Pretendard Bold"/>
              </a:rPr>
              <a:t>분석 </a:t>
            </a:r>
            <a:r>
              <a:rPr lang="ko-KR" altLang="en-US" sz="3000" b="0" i="0" u="none" strike="noStrike" dirty="0">
                <a:solidFill>
                  <a:srgbClr val="242424"/>
                </a:solidFill>
                <a:latin typeface="Pretendard Bold"/>
              </a:rPr>
              <a:t>배경 및 목적</a:t>
            </a:r>
            <a:endParaRPr lang="ko-KR" altLang="en-US" sz="3000" b="0" i="0" u="none" strike="noStrike" dirty="0">
              <a:solidFill>
                <a:srgbClr val="242424"/>
              </a:solidFill>
              <a:ea typeface="Pretendard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566400" y="7848600"/>
            <a:ext cx="673100" cy="431800"/>
          </a:xfrm>
          <a:prstGeom prst="rect">
            <a:avLst/>
          </a:prstGeom>
        </p:spPr>
        <p:txBody>
          <a:bodyPr anchor="ctr"/>
          <a:lstStyle/>
          <a:p>
            <a:pPr lvl="0" algn="ctr">
              <a:lnSpc>
                <a:spcPct val="133000"/>
              </a:lnSpc>
              <a:defRPr/>
            </a:pPr>
            <a:r>
              <a:rPr lang="en-GB" sz="2400" b="0" i="0" u="none" strike="noStrike" dirty="0">
                <a:solidFill>
                  <a:srgbClr val="242424"/>
                </a:solidFill>
                <a:latin typeface="Cinzel Bold"/>
              </a:rPr>
              <a:t>0</a:t>
            </a:r>
            <a:r>
              <a:rPr lang="en-US" sz="2400" dirty="0">
                <a:solidFill>
                  <a:srgbClr val="242424"/>
                </a:solidFill>
                <a:latin typeface="Cinzel Bold"/>
              </a:rPr>
              <a:t>1</a:t>
            </a:r>
            <a:endParaRPr lang="en-US" altLang="ko-KR" sz="2400" b="0" i="0" u="none" strike="noStrike" dirty="0">
              <a:solidFill>
                <a:srgbClr val="242424"/>
              </a:solidFill>
              <a:latin typeface="Cinzel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429000" y="8864600"/>
            <a:ext cx="7175500" cy="965200"/>
          </a:xfrm>
          <a:prstGeom prst="rect">
            <a:avLst/>
          </a:prstGeom>
        </p:spPr>
        <p:txBody>
          <a:bodyPr anchor="ctr"/>
          <a:lstStyle/>
          <a:p>
            <a:pPr lvl="0" algn="l">
              <a:lnSpc>
                <a:spcPct val="133000"/>
              </a:lnSpc>
              <a:defRPr/>
            </a:pPr>
            <a:r>
              <a:rPr lang="ko-KR" altLang="en-US" sz="2800" dirty="0"/>
              <a:t>국내 지역별 태양광 발전 실적 및 현황 분석</a:t>
            </a:r>
            <a:endParaRPr lang="ko-KR" altLang="en-US" sz="2800" b="0" i="0" u="none" strike="noStrike" dirty="0">
              <a:solidFill>
                <a:srgbClr val="242424"/>
              </a:solidFill>
              <a:ea typeface="Pretendard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429000" y="10620512"/>
            <a:ext cx="5715000" cy="660400"/>
          </a:xfrm>
          <a:prstGeom prst="rect">
            <a:avLst/>
          </a:prstGeom>
        </p:spPr>
        <p:txBody>
          <a:bodyPr anchor="ctr"/>
          <a:lstStyle/>
          <a:p>
            <a:pPr lvl="0">
              <a:lnSpc>
                <a:spcPct val="133000"/>
              </a:lnSpc>
              <a:defRPr/>
            </a:pPr>
            <a:r>
              <a:rPr lang="ko-KR" altLang="en-US" sz="3200" dirty="0"/>
              <a:t>기상 요인에 따른 발전 효율 상관관계 분석</a:t>
            </a:r>
            <a:endParaRPr lang="ko-KR" altLang="en-US" sz="3000" i="0" u="none" strike="noStrike" dirty="0">
              <a:solidFill>
                <a:srgbClr val="242424"/>
              </a:solidFill>
              <a:ea typeface="Pretendard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566400" y="9220200"/>
            <a:ext cx="673100" cy="431800"/>
          </a:xfrm>
          <a:prstGeom prst="rect">
            <a:avLst/>
          </a:prstGeom>
        </p:spPr>
        <p:txBody>
          <a:bodyPr anchor="ctr"/>
          <a:lstStyle/>
          <a:p>
            <a:pPr lvl="0" algn="ctr">
              <a:lnSpc>
                <a:spcPct val="133000"/>
              </a:lnSpc>
              <a:defRPr/>
            </a:pPr>
            <a:r>
              <a:rPr lang="en-GB" sz="2400" b="0" i="0" u="none" strike="noStrike" dirty="0">
                <a:solidFill>
                  <a:srgbClr val="242424"/>
                </a:solidFill>
                <a:latin typeface="Cinzel Bold"/>
              </a:rPr>
              <a:t>0</a:t>
            </a:r>
            <a:r>
              <a:rPr lang="en-US" sz="2400" b="0" i="0" u="none" strike="noStrike" dirty="0">
                <a:solidFill>
                  <a:srgbClr val="242424"/>
                </a:solidFill>
                <a:latin typeface="Cinzel Bold"/>
              </a:rPr>
              <a:t>2</a:t>
            </a:r>
            <a:endParaRPr lang="en-US" altLang="ko-KR" sz="2400" b="0" i="0" u="none" strike="noStrike" dirty="0">
              <a:solidFill>
                <a:srgbClr val="242424"/>
              </a:solidFill>
              <a:latin typeface="Cinzel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566400" y="10591800"/>
            <a:ext cx="673100" cy="431800"/>
          </a:xfrm>
          <a:prstGeom prst="rect">
            <a:avLst/>
          </a:prstGeom>
        </p:spPr>
        <p:txBody>
          <a:bodyPr anchor="ctr"/>
          <a:lstStyle/>
          <a:p>
            <a:pPr lvl="0" algn="ctr">
              <a:lnSpc>
                <a:spcPct val="133000"/>
              </a:lnSpc>
              <a:defRPr/>
            </a:pPr>
            <a:r>
              <a:rPr lang="en-GB" sz="2400" b="0" i="0" u="none" strike="noStrike" dirty="0">
                <a:solidFill>
                  <a:srgbClr val="242424"/>
                </a:solidFill>
                <a:latin typeface="Cinzel Bold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320000" y="7848600"/>
            <a:ext cx="673100" cy="431800"/>
          </a:xfrm>
          <a:prstGeom prst="rect">
            <a:avLst/>
          </a:prstGeom>
        </p:spPr>
        <p:txBody>
          <a:bodyPr anchor="ctr"/>
          <a:lstStyle/>
          <a:p>
            <a:pPr lvl="0" algn="ctr">
              <a:lnSpc>
                <a:spcPct val="133000"/>
              </a:lnSpc>
              <a:defRPr/>
            </a:pPr>
            <a:r>
              <a:rPr lang="en-GB" sz="2400" b="0" i="0" u="none" strike="noStrike" dirty="0">
                <a:solidFill>
                  <a:srgbClr val="242424"/>
                </a:solidFill>
                <a:latin typeface="Cinzel Bold"/>
              </a:rPr>
              <a:t>0</a:t>
            </a:r>
            <a:r>
              <a:rPr lang="en-US" sz="2400" dirty="0">
                <a:solidFill>
                  <a:srgbClr val="242424"/>
                </a:solidFill>
                <a:latin typeface="Cinzel Bold"/>
              </a:rPr>
              <a:t>4</a:t>
            </a:r>
            <a:endParaRPr lang="en-US" altLang="ko-KR" sz="2400" b="0" i="0" u="none" strike="noStrike" dirty="0">
              <a:solidFill>
                <a:srgbClr val="242424"/>
              </a:solidFill>
              <a:latin typeface="Cinzel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3106400" y="7772400"/>
            <a:ext cx="5029200" cy="660400"/>
          </a:xfrm>
          <a:prstGeom prst="rect">
            <a:avLst/>
          </a:prstGeom>
        </p:spPr>
        <p:txBody>
          <a:bodyPr anchor="ctr"/>
          <a:lstStyle/>
          <a:p>
            <a:pPr lvl="0" algn="l">
              <a:lnSpc>
                <a:spcPct val="133000"/>
              </a:lnSpc>
              <a:defRPr/>
            </a:pPr>
            <a:r>
              <a:rPr lang="ko-KR" altLang="en-US" sz="3000" dirty="0"/>
              <a:t>데이터 분석 결과</a:t>
            </a:r>
            <a:endParaRPr lang="en-US" altLang="ko-KR" sz="3000" b="0" i="0" u="none" strike="noStrike" dirty="0">
              <a:solidFill>
                <a:srgbClr val="242424"/>
              </a:solidFill>
              <a:ea typeface="Pretendard Bold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9659600" y="8071997"/>
            <a:ext cx="431799" cy="5202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3042900" y="9067800"/>
            <a:ext cx="5854700" cy="660400"/>
          </a:xfrm>
          <a:prstGeom prst="rect">
            <a:avLst/>
          </a:prstGeom>
        </p:spPr>
        <p:txBody>
          <a:bodyPr anchor="ctr"/>
          <a:lstStyle/>
          <a:p>
            <a:pPr lvl="0" algn="l">
              <a:lnSpc>
                <a:spcPct val="133000"/>
              </a:lnSpc>
              <a:defRPr/>
            </a:pPr>
            <a:r>
              <a:rPr lang="ko-KR" altLang="en-US" sz="3000" b="0" i="0" u="none" strike="noStrike" dirty="0">
                <a:solidFill>
                  <a:srgbClr val="242424"/>
                </a:solidFill>
                <a:latin typeface="+mj-ea"/>
                <a:ea typeface="+mj-ea"/>
              </a:rPr>
              <a:t>지역별 최적화 전략 및 기대효과</a:t>
            </a:r>
            <a:endParaRPr lang="ko-KR" sz="3000" b="0" i="0" u="none" strike="noStrike" dirty="0">
              <a:solidFill>
                <a:srgbClr val="242424"/>
              </a:solidFill>
              <a:latin typeface="+mj-ea"/>
              <a:ea typeface="+mj-ea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0320000" y="9220200"/>
            <a:ext cx="673100" cy="431800"/>
          </a:xfrm>
          <a:prstGeom prst="rect">
            <a:avLst/>
          </a:prstGeom>
        </p:spPr>
        <p:txBody>
          <a:bodyPr anchor="ctr"/>
          <a:lstStyle/>
          <a:p>
            <a:pPr lvl="0" algn="ctr">
              <a:lnSpc>
                <a:spcPct val="133000"/>
              </a:lnSpc>
              <a:defRPr/>
            </a:pPr>
            <a:r>
              <a:rPr lang="en-GB" sz="2400" b="0" i="0" u="none" strike="noStrike" dirty="0">
                <a:solidFill>
                  <a:srgbClr val="242424"/>
                </a:solidFill>
                <a:latin typeface="Cinzel Bold"/>
              </a:rPr>
              <a:t>0</a:t>
            </a:r>
            <a:r>
              <a:rPr lang="en-US" sz="2400" dirty="0">
                <a:solidFill>
                  <a:srgbClr val="242424"/>
                </a:solidFill>
                <a:latin typeface="Cinzel Bold"/>
              </a:rPr>
              <a:t>5</a:t>
            </a:r>
            <a:endParaRPr lang="en-US" altLang="ko-KR" sz="2400" b="0" i="0" u="none" strike="noStrike" dirty="0">
              <a:solidFill>
                <a:srgbClr val="242424"/>
              </a:solidFill>
              <a:latin typeface="Cinzel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2070100" y="4318000"/>
            <a:ext cx="20231100" cy="1257300"/>
          </a:xfrm>
          <a:prstGeom prst="rect">
            <a:avLst/>
          </a:prstGeom>
        </p:spPr>
        <p:txBody>
          <a:bodyPr lIns="0" tIns="89745" rIns="0" bIns="0" anchor="t"/>
          <a:lstStyle/>
          <a:p>
            <a:pPr lvl="0" algn="ctr">
              <a:lnSpc>
                <a:spcPct val="100000"/>
              </a:lnSpc>
              <a:defRPr/>
            </a:pPr>
            <a:r>
              <a:rPr lang="en-GB" sz="7065" b="0" i="0" u="none" strike="noStrike" spc="-71" dirty="0" err="1">
                <a:solidFill>
                  <a:srgbClr val="242424"/>
                </a:solidFill>
                <a:ea typeface="MapoDPP"/>
              </a:rPr>
              <a:t>목차</a:t>
            </a:r>
            <a:endParaRPr lang="en-GB" sz="7065" b="0" i="0" u="none" strike="noStrike" spc="-71" dirty="0">
              <a:solidFill>
                <a:srgbClr val="242424"/>
              </a:solidFill>
              <a:ea typeface="MapoDPP"/>
            </a:endParaR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876300" y="419100"/>
            <a:ext cx="5486400" cy="5486400"/>
          </a:xfrm>
          <a:prstGeom prst="rect">
            <a:avLst/>
          </a:prstGeom>
        </p:spPr>
      </p:pic>
      <p:cxnSp>
        <p:nvCxnSpPr>
          <p:cNvPr id="28" name="Straight Connector 27"/>
          <p:cNvCxnSpPr>
            <a:cxnSpLocks/>
          </p:cNvCxnSpPr>
          <p:nvPr/>
        </p:nvCxnSpPr>
        <p:spPr>
          <a:xfrm>
            <a:off x="6553200" y="8051800"/>
            <a:ext cx="3886200" cy="38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cxnSpLocks/>
          </p:cNvCxnSpPr>
          <p:nvPr/>
        </p:nvCxnSpPr>
        <p:spPr>
          <a:xfrm>
            <a:off x="10198100" y="9448655"/>
            <a:ext cx="2921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cxnSpLocks/>
            <a:endCxn id="12" idx="1"/>
          </p:cNvCxnSpPr>
          <p:nvPr/>
        </p:nvCxnSpPr>
        <p:spPr>
          <a:xfrm>
            <a:off x="8610600" y="10805160"/>
            <a:ext cx="1955800" cy="25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cxnSpLocks/>
          </p:cNvCxnSpPr>
          <p:nvPr/>
        </p:nvCxnSpPr>
        <p:spPr>
          <a:xfrm>
            <a:off x="18669000" y="9497060"/>
            <a:ext cx="15367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cxnSpLocks/>
          </p:cNvCxnSpPr>
          <p:nvPr/>
        </p:nvCxnSpPr>
        <p:spPr>
          <a:xfrm>
            <a:off x="16383000" y="8051800"/>
            <a:ext cx="3810000" cy="12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21">
            <a:extLst>
              <a:ext uri="{FF2B5EF4-FFF2-40B4-BE49-F238E27FC236}">
                <a16:creationId xmlns:a16="http://schemas.microsoft.com/office/drawing/2014/main" id="{074CCF15-FA45-4EC6-BD1E-5861D5B29C5E}"/>
              </a:ext>
            </a:extLst>
          </p:cNvPr>
          <p:cNvSpPr txBox="1"/>
          <p:nvPr/>
        </p:nvSpPr>
        <p:spPr>
          <a:xfrm>
            <a:off x="13104743" y="10474960"/>
            <a:ext cx="5854700" cy="660400"/>
          </a:xfrm>
          <a:prstGeom prst="rect">
            <a:avLst/>
          </a:prstGeom>
        </p:spPr>
        <p:txBody>
          <a:bodyPr anchor="ctr"/>
          <a:lstStyle/>
          <a:p>
            <a:pPr lvl="0" algn="l">
              <a:lnSpc>
                <a:spcPct val="133000"/>
              </a:lnSpc>
              <a:defRPr/>
            </a:pPr>
            <a:r>
              <a:rPr lang="ko-KR" altLang="en-US" sz="3000" b="0" i="0" u="none" strike="noStrike" dirty="0">
                <a:solidFill>
                  <a:srgbClr val="242424"/>
                </a:solidFill>
                <a:latin typeface="+mj-ea"/>
                <a:ea typeface="+mj-ea"/>
              </a:rPr>
              <a:t>최종 제안 및 출처</a:t>
            </a:r>
            <a:endParaRPr lang="ko-KR" sz="3000" b="0" i="0" u="none" strike="noStrike" dirty="0">
              <a:solidFill>
                <a:srgbClr val="242424"/>
              </a:solidFill>
              <a:latin typeface="+mj-ea"/>
              <a:ea typeface="+mj-ea"/>
            </a:endParaRPr>
          </a:p>
        </p:txBody>
      </p:sp>
      <p:cxnSp>
        <p:nvCxnSpPr>
          <p:cNvPr id="40" name="Straight Connector 30">
            <a:extLst>
              <a:ext uri="{FF2B5EF4-FFF2-40B4-BE49-F238E27FC236}">
                <a16:creationId xmlns:a16="http://schemas.microsoft.com/office/drawing/2014/main" id="{4D6A39D5-6282-4260-824A-2101DE9EC398}"/>
              </a:ext>
            </a:extLst>
          </p:cNvPr>
          <p:cNvCxnSpPr>
            <a:cxnSpLocks/>
          </p:cNvCxnSpPr>
          <p:nvPr/>
        </p:nvCxnSpPr>
        <p:spPr>
          <a:xfrm>
            <a:off x="16383000" y="10805160"/>
            <a:ext cx="3937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22">
            <a:extLst>
              <a:ext uri="{FF2B5EF4-FFF2-40B4-BE49-F238E27FC236}">
                <a16:creationId xmlns:a16="http://schemas.microsoft.com/office/drawing/2014/main" id="{970B7F86-F410-4D67-A345-220D528E7956}"/>
              </a:ext>
            </a:extLst>
          </p:cNvPr>
          <p:cNvSpPr txBox="1"/>
          <p:nvPr/>
        </p:nvSpPr>
        <p:spPr>
          <a:xfrm>
            <a:off x="20332975" y="10559443"/>
            <a:ext cx="673100" cy="431800"/>
          </a:xfrm>
          <a:prstGeom prst="rect">
            <a:avLst/>
          </a:prstGeom>
        </p:spPr>
        <p:txBody>
          <a:bodyPr anchor="ctr"/>
          <a:lstStyle/>
          <a:p>
            <a:pPr lvl="0" algn="ctr">
              <a:lnSpc>
                <a:spcPct val="133000"/>
              </a:lnSpc>
              <a:defRPr/>
            </a:pPr>
            <a:r>
              <a:rPr lang="en-GB" sz="2400" b="0" i="0" u="none" strike="noStrike" dirty="0">
                <a:solidFill>
                  <a:srgbClr val="242424"/>
                </a:solidFill>
                <a:latin typeface="Cinzel Bold"/>
              </a:rPr>
              <a:t>0</a:t>
            </a:r>
            <a:r>
              <a:rPr lang="en-US" sz="2400" b="0" i="0" u="none" strike="noStrike" dirty="0">
                <a:solidFill>
                  <a:srgbClr val="242424"/>
                </a:solidFill>
                <a:latin typeface="Cinzel Bold"/>
              </a:rPr>
              <a:t>6</a:t>
            </a:r>
            <a:endParaRPr lang="en-US" altLang="ko-KR" sz="2400" b="0" i="0" u="none" strike="noStrike" dirty="0">
              <a:solidFill>
                <a:srgbClr val="242424"/>
              </a:solidFill>
              <a:latin typeface="Cinzel 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98996-7FD8-ED1E-3D99-2860202F9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A3AA43D-E1BB-BDA7-D09C-3FCFA35837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24384000" cy="4432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3447B8AD-02F6-F81F-A1AC-39416BACC5C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16200000">
            <a:off x="6591301" y="-3952736"/>
            <a:ext cx="11172963" cy="24412436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43EDB80E-CD27-5019-D3B8-D4309259373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133600" y="1765300"/>
            <a:ext cx="2908300" cy="29083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775A213A-59BD-ACD9-0BE2-1A3A7273280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262110" y="4648200"/>
            <a:ext cx="7130807" cy="81534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DE35938A-B79A-EA93-E41D-B7042A4F6970}"/>
              </a:ext>
            </a:extLst>
          </p:cNvPr>
          <p:cNvSpPr txBox="1"/>
          <p:nvPr/>
        </p:nvSpPr>
        <p:spPr>
          <a:xfrm>
            <a:off x="2460746" y="4954270"/>
            <a:ext cx="5156461" cy="1351776"/>
          </a:xfrm>
          <a:prstGeom prst="rect">
            <a:avLst/>
          </a:prstGeom>
        </p:spPr>
        <p:txBody>
          <a:bodyPr anchor="ctr"/>
          <a:lstStyle/>
          <a:p>
            <a:pPr lvl="0" algn="l">
              <a:lnSpc>
                <a:spcPct val="133000"/>
              </a:lnSpc>
              <a:defRPr/>
            </a:pPr>
            <a:r>
              <a:rPr lang="ko-KR" altLang="en-US" sz="4400" dirty="0">
                <a:solidFill>
                  <a:srgbClr val="242424"/>
                </a:solidFill>
                <a:latin typeface="Pretendard Bold"/>
              </a:rPr>
              <a:t>분석 </a:t>
            </a:r>
            <a:r>
              <a:rPr lang="ko-KR" altLang="en-US" sz="4400" b="0" i="0" u="none" strike="noStrike" dirty="0">
                <a:solidFill>
                  <a:srgbClr val="242424"/>
                </a:solidFill>
                <a:latin typeface="Pretendard Bold"/>
              </a:rPr>
              <a:t>배경 및 목적</a:t>
            </a:r>
            <a:endParaRPr lang="ko-KR" altLang="en-US" sz="4400" b="0" i="0" u="none" strike="noStrike" dirty="0">
              <a:solidFill>
                <a:srgbClr val="242424"/>
              </a:solidFill>
              <a:ea typeface="Pretendard Bold"/>
            </a:endParaRP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90055760-254B-3115-433F-4CAB9B37EFDC}"/>
              </a:ext>
            </a:extLst>
          </p:cNvPr>
          <p:cNvSpPr txBox="1"/>
          <p:nvPr/>
        </p:nvSpPr>
        <p:spPr>
          <a:xfrm>
            <a:off x="-3098800" y="1873746"/>
            <a:ext cx="20231100" cy="1257300"/>
          </a:xfrm>
          <a:prstGeom prst="rect">
            <a:avLst/>
          </a:prstGeom>
        </p:spPr>
        <p:txBody>
          <a:bodyPr lIns="0" tIns="89745" rIns="0" bIns="0" anchor="t"/>
          <a:lstStyle/>
          <a:p>
            <a:pPr lvl="0" algn="ctr">
              <a:lnSpc>
                <a:spcPct val="100000"/>
              </a:lnSpc>
              <a:defRPr/>
            </a:pPr>
            <a:r>
              <a:rPr lang="en-GB" sz="7065" b="0" i="0" u="none" strike="noStrike" spc="-71" dirty="0" err="1">
                <a:solidFill>
                  <a:srgbClr val="242424"/>
                </a:solidFill>
                <a:ea typeface="MapoDPP"/>
              </a:rPr>
              <a:t>목차</a:t>
            </a:r>
            <a:endParaRPr lang="en-GB" sz="7065" b="0" i="0" u="none" strike="noStrike" spc="-71" dirty="0">
              <a:solidFill>
                <a:srgbClr val="242424"/>
              </a:solidFill>
              <a:ea typeface="MapoDPP"/>
            </a:endParaRPr>
          </a:p>
        </p:txBody>
      </p:sp>
      <p:pic>
        <p:nvPicPr>
          <p:cNvPr id="25" name="Picture 25">
            <a:extLst>
              <a:ext uri="{FF2B5EF4-FFF2-40B4-BE49-F238E27FC236}">
                <a16:creationId xmlns:a16="http://schemas.microsoft.com/office/drawing/2014/main" id="{58C8DCB7-88CB-F0E1-4FAE-CAC312AE330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844550" y="-1667510"/>
            <a:ext cx="5486400" cy="5486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1C9063-2552-3E53-069A-B6D29E0DBF9E}"/>
              </a:ext>
            </a:extLst>
          </p:cNvPr>
          <p:cNvSpPr txBox="1"/>
          <p:nvPr/>
        </p:nvSpPr>
        <p:spPr>
          <a:xfrm>
            <a:off x="1947164" y="6748268"/>
            <a:ext cx="6053836" cy="4757931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3600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altLang="en-US" sz="3600" b="0" i="0" u="none" strike="noStrike" dirty="0">
                <a:solidFill>
                  <a:srgbClr val="000000"/>
                </a:solidFill>
                <a:latin typeface="+mn-ea"/>
              </a:rPr>
              <a:t>전체 에너지원별 발전 비중</a:t>
            </a:r>
            <a:endParaRPr lang="ko-KR" sz="3600" b="0" i="0" u="none" strike="noStrike" dirty="0">
              <a:solidFill>
                <a:srgbClr val="000000"/>
              </a:solidFill>
              <a:latin typeface="+mn-ea"/>
            </a:endParaRPr>
          </a:p>
          <a:p>
            <a:pPr lvl="0" algn="l">
              <a:lnSpc>
                <a:spcPct val="116199"/>
              </a:lnSpc>
            </a:pPr>
            <a:r>
              <a:rPr lang="en-US" altLang="ko-KR" sz="3600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altLang="en-US" sz="3600" b="0" i="0" u="none" strike="noStrike" dirty="0">
                <a:solidFill>
                  <a:srgbClr val="000000"/>
                </a:solidFill>
                <a:latin typeface="+mn-ea"/>
              </a:rPr>
              <a:t>분석 배경</a:t>
            </a:r>
            <a:endParaRPr lang="ko-KR" sz="3600" b="0" i="0" u="none" strike="noStrike" dirty="0">
              <a:solidFill>
                <a:srgbClr val="000000"/>
              </a:solidFill>
              <a:latin typeface="+mn-ea"/>
            </a:endParaRPr>
          </a:p>
          <a:p>
            <a:pPr lvl="0" algn="l">
              <a:lnSpc>
                <a:spcPct val="116199"/>
              </a:lnSpc>
            </a:pPr>
            <a:r>
              <a:rPr lang="en-US" altLang="ko-KR" sz="36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altLang="en-US" sz="3600" b="0" i="0" u="none" strike="noStrike" dirty="0">
                <a:solidFill>
                  <a:srgbClr val="000000"/>
                </a:solidFill>
                <a:latin typeface="+mn-ea"/>
              </a:rPr>
              <a:t>분석 목적</a:t>
            </a:r>
            <a:endParaRPr lang="ko-KR" sz="3600" b="0" i="0" u="none" strike="noStrike" dirty="0">
              <a:solidFill>
                <a:srgbClr val="000000"/>
              </a:solidFill>
              <a:latin typeface="+mn-ea"/>
            </a:endParaRPr>
          </a:p>
          <a:p>
            <a:pPr lvl="0" algn="l">
              <a:lnSpc>
                <a:spcPct val="116199"/>
              </a:lnSpc>
            </a:pPr>
            <a:r>
              <a:rPr lang="en-US" altLang="ko-KR" sz="36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altLang="en-US" sz="3600" b="0" i="0" u="none" strike="noStrike" dirty="0">
                <a:solidFill>
                  <a:srgbClr val="000000"/>
                </a:solidFill>
                <a:latin typeface="+mn-ea"/>
              </a:rPr>
              <a:t>문제 제기</a:t>
            </a:r>
            <a:endParaRPr lang="ko-KR" sz="3600" b="0" i="0" u="none" strike="noStrike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C7EE7CB5-A5B4-ADED-92A0-692F30D8C877}"/>
              </a:ext>
            </a:extLst>
          </p:cNvPr>
          <p:cNvSpPr txBox="1"/>
          <p:nvPr/>
        </p:nvSpPr>
        <p:spPr>
          <a:xfrm>
            <a:off x="1638806" y="5226043"/>
            <a:ext cx="1125731" cy="87757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en" sz="4400" b="0" i="0" u="none" strike="noStrike" dirty="0">
                <a:solidFill>
                  <a:srgbClr val="002060"/>
                </a:solidFill>
                <a:latin typeface="Pretendard Medium"/>
              </a:rPr>
              <a:t>01</a:t>
            </a:r>
          </a:p>
        </p:txBody>
      </p:sp>
      <p:pic>
        <p:nvPicPr>
          <p:cNvPr id="38" name="Picture 5">
            <a:extLst>
              <a:ext uri="{FF2B5EF4-FFF2-40B4-BE49-F238E27FC236}">
                <a16:creationId xmlns:a16="http://schemas.microsoft.com/office/drawing/2014/main" id="{A9F6BD03-C133-7783-AF41-DB63BCEDF41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8867654" y="4660624"/>
            <a:ext cx="7185145" cy="8140976"/>
          </a:xfrm>
          <a:prstGeom prst="rect">
            <a:avLst/>
          </a:prstGeom>
        </p:spPr>
      </p:pic>
      <p:pic>
        <p:nvPicPr>
          <p:cNvPr id="41" name="Picture 5">
            <a:extLst>
              <a:ext uri="{FF2B5EF4-FFF2-40B4-BE49-F238E27FC236}">
                <a16:creationId xmlns:a16="http://schemas.microsoft.com/office/drawing/2014/main" id="{E2A570C3-E278-89CB-2D1E-EBBF82DD62C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6502136" y="4585692"/>
            <a:ext cx="7185145" cy="8140976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B82AB812-66EF-F3BE-C2A1-1545237E5668}"/>
              </a:ext>
            </a:extLst>
          </p:cNvPr>
          <p:cNvSpPr txBox="1"/>
          <p:nvPr/>
        </p:nvSpPr>
        <p:spPr>
          <a:xfrm>
            <a:off x="9843895" y="6837819"/>
            <a:ext cx="5048250" cy="589788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+mn-ea"/>
              </a:rPr>
              <a:t>탄소중립</a:t>
            </a:r>
            <a:r>
              <a:rPr lang="en-US" sz="2933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+mn-ea"/>
              </a:rPr>
              <a:t>정책</a:t>
            </a:r>
            <a:r>
              <a:rPr lang="en-US" sz="2933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+mn-ea"/>
              </a:rPr>
              <a:t>영향</a:t>
            </a: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+mn-ea"/>
              </a:rPr>
              <a:t>지역별</a:t>
            </a:r>
            <a:r>
              <a:rPr lang="en-US" sz="2933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+mn-ea"/>
              </a:rPr>
              <a:t>발전</a:t>
            </a:r>
            <a:r>
              <a:rPr lang="en-US" sz="2933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+mn-ea"/>
              </a:rPr>
              <a:t>불균형</a:t>
            </a: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+mn-ea"/>
              </a:rPr>
              <a:t>온도계수</a:t>
            </a:r>
            <a:r>
              <a:rPr lang="en-US" sz="2933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+mn-ea"/>
              </a:rPr>
              <a:t>영향</a:t>
            </a: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+mn-ea"/>
              </a:rPr>
              <a:t>최적화</a:t>
            </a:r>
            <a:r>
              <a:rPr lang="en-US" sz="2933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+mn-ea"/>
              </a:rPr>
              <a:t>필요성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F16EEA6-273E-7059-F81A-E1C021C25259}"/>
              </a:ext>
            </a:extLst>
          </p:cNvPr>
          <p:cNvSpPr txBox="1"/>
          <p:nvPr/>
        </p:nvSpPr>
        <p:spPr>
          <a:xfrm>
            <a:off x="17388585" y="5905500"/>
            <a:ext cx="5048250" cy="589788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+mn-ea"/>
              </a:rPr>
              <a:t>탄소중립</a:t>
            </a:r>
            <a:r>
              <a:rPr lang="en-US" sz="2933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+mn-ea"/>
              </a:rPr>
              <a:t>정책</a:t>
            </a:r>
            <a:r>
              <a:rPr lang="en-US" sz="2933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+mn-ea"/>
              </a:rPr>
              <a:t>영향</a:t>
            </a: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+mn-ea"/>
              </a:rPr>
              <a:t>지역별</a:t>
            </a:r>
            <a:r>
              <a:rPr lang="en-US" sz="2933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+mn-ea"/>
              </a:rPr>
              <a:t>발전</a:t>
            </a:r>
            <a:r>
              <a:rPr lang="en-US" sz="2933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+mn-ea"/>
              </a:rPr>
              <a:t>불균형</a:t>
            </a: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+mn-ea"/>
              </a:rPr>
              <a:t>온도계수</a:t>
            </a:r>
            <a:r>
              <a:rPr lang="en-US" sz="2933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+mn-ea"/>
              </a:rPr>
              <a:t>영향</a:t>
            </a: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+mn-ea"/>
              </a:rPr>
              <a:t>최적화</a:t>
            </a:r>
            <a:r>
              <a:rPr lang="en-US" sz="2933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+mn-ea"/>
              </a:rPr>
              <a:t>필요성</a:t>
            </a:r>
          </a:p>
        </p:txBody>
      </p:sp>
      <p:sp>
        <p:nvSpPr>
          <p:cNvPr id="50" name="TextBox 7">
            <a:extLst>
              <a:ext uri="{FF2B5EF4-FFF2-40B4-BE49-F238E27FC236}">
                <a16:creationId xmlns:a16="http://schemas.microsoft.com/office/drawing/2014/main" id="{3F8CC346-64B6-688C-2512-3CE56D98CE5E}"/>
              </a:ext>
            </a:extLst>
          </p:cNvPr>
          <p:cNvSpPr txBox="1"/>
          <p:nvPr/>
        </p:nvSpPr>
        <p:spPr>
          <a:xfrm>
            <a:off x="10018818" y="5222131"/>
            <a:ext cx="5961521" cy="1351776"/>
          </a:xfrm>
          <a:prstGeom prst="rect">
            <a:avLst/>
          </a:prstGeom>
        </p:spPr>
        <p:txBody>
          <a:bodyPr anchor="ctr"/>
          <a:lstStyle/>
          <a:p>
            <a:pPr lvl="0" algn="l">
              <a:lnSpc>
                <a:spcPct val="133000"/>
              </a:lnSpc>
              <a:defRPr/>
            </a:pPr>
            <a:r>
              <a:rPr lang="ko-KR" altLang="en-US" sz="4400" b="0" i="0" u="none" strike="noStrike" dirty="0">
                <a:solidFill>
                  <a:srgbClr val="242424"/>
                </a:solidFill>
                <a:ea typeface="Pretendard Bold"/>
              </a:rPr>
              <a:t>지역별  현황분석</a:t>
            </a:r>
          </a:p>
        </p:txBody>
      </p:sp>
      <p:sp>
        <p:nvSpPr>
          <p:cNvPr id="51" name="TextBox 7">
            <a:extLst>
              <a:ext uri="{FF2B5EF4-FFF2-40B4-BE49-F238E27FC236}">
                <a16:creationId xmlns:a16="http://schemas.microsoft.com/office/drawing/2014/main" id="{E0E569E2-0154-7222-5778-F29A2C180F72}"/>
              </a:ext>
            </a:extLst>
          </p:cNvPr>
          <p:cNvSpPr txBox="1"/>
          <p:nvPr/>
        </p:nvSpPr>
        <p:spPr>
          <a:xfrm>
            <a:off x="17516477" y="4853437"/>
            <a:ext cx="5156461" cy="1351776"/>
          </a:xfrm>
          <a:prstGeom prst="rect">
            <a:avLst/>
          </a:prstGeom>
        </p:spPr>
        <p:txBody>
          <a:bodyPr anchor="ctr"/>
          <a:lstStyle/>
          <a:p>
            <a:pPr lvl="0" algn="l">
              <a:lnSpc>
                <a:spcPct val="133000"/>
              </a:lnSpc>
              <a:defRPr/>
            </a:pPr>
            <a:r>
              <a:rPr lang="ko-KR" altLang="en-US" sz="4400" dirty="0">
                <a:solidFill>
                  <a:srgbClr val="242424"/>
                </a:solidFill>
                <a:latin typeface="Pretendard Bold"/>
              </a:rPr>
              <a:t>분석 </a:t>
            </a:r>
            <a:r>
              <a:rPr lang="ko-KR" altLang="en-US" sz="4400" b="0" i="0" u="none" strike="noStrike" dirty="0">
                <a:solidFill>
                  <a:srgbClr val="242424"/>
                </a:solidFill>
                <a:latin typeface="Pretendard Bold"/>
              </a:rPr>
              <a:t>배경 및 목적</a:t>
            </a:r>
            <a:endParaRPr lang="ko-KR" altLang="en-US" sz="4400" b="0" i="0" u="none" strike="noStrike" dirty="0">
              <a:solidFill>
                <a:srgbClr val="242424"/>
              </a:solidFill>
              <a:ea typeface="Pretendard Bold"/>
            </a:endParaRPr>
          </a:p>
        </p:txBody>
      </p:sp>
      <p:sp>
        <p:nvSpPr>
          <p:cNvPr id="52" name="TextBox 7">
            <a:extLst>
              <a:ext uri="{FF2B5EF4-FFF2-40B4-BE49-F238E27FC236}">
                <a16:creationId xmlns:a16="http://schemas.microsoft.com/office/drawing/2014/main" id="{17C06A07-DBAC-B0CA-E757-FBFB084B46F6}"/>
              </a:ext>
            </a:extLst>
          </p:cNvPr>
          <p:cNvSpPr txBox="1"/>
          <p:nvPr/>
        </p:nvSpPr>
        <p:spPr>
          <a:xfrm>
            <a:off x="9110467" y="5186928"/>
            <a:ext cx="1125731" cy="87757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en" sz="4400" b="0" i="0" u="none" strike="noStrike" dirty="0">
                <a:solidFill>
                  <a:srgbClr val="002060"/>
                </a:solidFill>
                <a:latin typeface="Pretendard Medium"/>
              </a:rPr>
              <a:t>02</a:t>
            </a:r>
          </a:p>
        </p:txBody>
      </p:sp>
      <p:sp>
        <p:nvSpPr>
          <p:cNvPr id="53" name="TextBox 7">
            <a:extLst>
              <a:ext uri="{FF2B5EF4-FFF2-40B4-BE49-F238E27FC236}">
                <a16:creationId xmlns:a16="http://schemas.microsoft.com/office/drawing/2014/main" id="{487B17C9-6374-88FA-922A-A50AF3F487E4}"/>
              </a:ext>
            </a:extLst>
          </p:cNvPr>
          <p:cNvSpPr txBox="1"/>
          <p:nvPr/>
        </p:nvSpPr>
        <p:spPr>
          <a:xfrm>
            <a:off x="16522639" y="5186928"/>
            <a:ext cx="1125731" cy="87757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en" sz="4400" b="0" i="0" u="none" strike="noStrike" dirty="0">
                <a:solidFill>
                  <a:srgbClr val="002060"/>
                </a:solidFill>
                <a:latin typeface="Pretendard Medium"/>
              </a:rPr>
              <a:t>0</a:t>
            </a:r>
            <a:r>
              <a:rPr lang="en" sz="4400" dirty="0">
                <a:solidFill>
                  <a:srgbClr val="002060"/>
                </a:solidFill>
                <a:latin typeface="Pretendard Medium"/>
              </a:rPr>
              <a:t>3</a:t>
            </a:r>
            <a:endParaRPr lang="en" sz="4400" b="0" i="0" u="none" strike="noStrike" dirty="0">
              <a:solidFill>
                <a:srgbClr val="002060"/>
              </a:solidFill>
              <a:latin typeface="Pretendard Medium"/>
            </a:endParaRPr>
          </a:p>
        </p:txBody>
      </p:sp>
    </p:spTree>
    <p:extLst>
      <p:ext uri="{BB962C8B-B14F-4D97-AF65-F5344CB8AC3E}">
        <p14:creationId xmlns:p14="http://schemas.microsoft.com/office/powerpoint/2010/main" val="1913894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89000" y="736600"/>
            <a:ext cx="22606000" cy="36957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4076700" y="1720215"/>
            <a:ext cx="14605000" cy="1257300"/>
          </a:xfrm>
          <a:prstGeom prst="rect">
            <a:avLst/>
          </a:prstGeom>
        </p:spPr>
        <p:txBody>
          <a:bodyPr lIns="0" tIns="89745" rIns="0" bIns="89745" anchor="ctr"/>
          <a:lstStyle/>
          <a:p>
            <a:pPr lvl="0" algn="l">
              <a:lnSpc>
                <a:spcPct val="100000"/>
              </a:lnSpc>
              <a:defRPr/>
            </a:pPr>
            <a:r>
              <a:rPr lang="ko-KR" sz="7065" b="0" i="0" u="none" strike="noStrike" spc="-71" dirty="0">
                <a:solidFill>
                  <a:srgbClr val="242424"/>
                </a:solidFill>
                <a:ea typeface="MapoDPP"/>
              </a:rPr>
              <a:t>분석</a:t>
            </a:r>
            <a:r>
              <a:rPr lang="en-US" sz="7065" b="0" i="0" u="none" strike="noStrike" spc="-71" dirty="0">
                <a:solidFill>
                  <a:srgbClr val="242424"/>
                </a:solidFill>
                <a:latin typeface="MapoDPP"/>
              </a:rPr>
              <a:t> </a:t>
            </a:r>
            <a:r>
              <a:rPr lang="ko-KR" altLang="en-US" sz="7065" spc="-71" dirty="0">
                <a:solidFill>
                  <a:srgbClr val="242424"/>
                </a:solidFill>
                <a:latin typeface="MapoDPP"/>
              </a:rPr>
              <a:t>배경 및 목적 </a:t>
            </a:r>
            <a:endParaRPr lang="ko-KR" altLang="en-US" sz="7065" b="0" i="0" u="none" strike="noStrike" spc="-71" dirty="0">
              <a:solidFill>
                <a:srgbClr val="242424"/>
              </a:solidFill>
              <a:latin typeface="MapoDPP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C5DCC4C-61D2-A17C-98FB-5895811F1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0" y="2825115"/>
            <a:ext cx="22621240" cy="10890886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562100" y="1257300"/>
            <a:ext cx="2514600" cy="2514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76200" y="-228600"/>
            <a:ext cx="5486400" cy="5486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17DB3-96F3-B379-1BB7-4CFF8866F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7ED7405-A1FD-C010-7A45-385F715D4C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89000" y="736600"/>
            <a:ext cx="22606000" cy="3695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0635A0D5-861E-3BE1-AEF2-3584E6EDCA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16200000">
            <a:off x="7073900" y="-3289300"/>
            <a:ext cx="10236200" cy="226060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2E83402A-1F61-C408-7096-B33FECA0AAF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562100" y="1257300"/>
            <a:ext cx="2514600" cy="25146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035285B8-FF0B-F7CE-4961-D6F70B6ED9B5}"/>
              </a:ext>
            </a:extLst>
          </p:cNvPr>
          <p:cNvSpPr txBox="1"/>
          <p:nvPr/>
        </p:nvSpPr>
        <p:spPr>
          <a:xfrm>
            <a:off x="4076700" y="1828525"/>
            <a:ext cx="14605000" cy="1257300"/>
          </a:xfrm>
          <a:prstGeom prst="rect">
            <a:avLst/>
          </a:prstGeom>
        </p:spPr>
        <p:txBody>
          <a:bodyPr lIns="0" tIns="89745" rIns="0" bIns="89745" anchor="ctr"/>
          <a:lstStyle/>
          <a:p>
            <a:pPr lvl="0" algn="l">
              <a:lnSpc>
                <a:spcPct val="100000"/>
              </a:lnSpc>
              <a:defRPr/>
            </a:pPr>
            <a:r>
              <a:rPr lang="ko-KR" sz="7065" b="0" i="0" u="none" strike="noStrike" spc="-71" dirty="0">
                <a:solidFill>
                  <a:srgbClr val="242424"/>
                </a:solidFill>
                <a:ea typeface="MapoDPP"/>
              </a:rPr>
              <a:t>분석</a:t>
            </a:r>
            <a:r>
              <a:rPr lang="en-US" sz="7065" b="0" i="0" u="none" strike="noStrike" spc="-71" dirty="0">
                <a:solidFill>
                  <a:srgbClr val="242424"/>
                </a:solidFill>
                <a:latin typeface="MapoDPP"/>
              </a:rPr>
              <a:t> </a:t>
            </a:r>
            <a:r>
              <a:rPr lang="ko-KR" altLang="en-US" sz="7065" b="0" i="0" u="none" strike="noStrike" spc="-71" dirty="0">
                <a:solidFill>
                  <a:srgbClr val="242424"/>
                </a:solidFill>
                <a:latin typeface="MapoDPP"/>
              </a:rPr>
              <a:t>배경 및 목적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B8B1A637-7720-DB00-1B44-A4125FCF8D0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16000" y="4584700"/>
            <a:ext cx="10829260" cy="36957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2E97051E-8C2C-7E17-F039-C484B7202AC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01600" y="-215900"/>
            <a:ext cx="5486400" cy="5486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60E6B0-FB41-8C62-68FE-15BFA36439B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2255500" y="4584700"/>
            <a:ext cx="10829260" cy="3695700"/>
          </a:xfrm>
          <a:prstGeom prst="rect">
            <a:avLst/>
          </a:prstGeom>
        </p:spPr>
      </p:pic>
      <p:pic>
        <p:nvPicPr>
          <p:cNvPr id="10" name="Picture 6">
            <a:extLst>
              <a:ext uri="{FF2B5EF4-FFF2-40B4-BE49-F238E27FC236}">
                <a16:creationId xmlns:a16="http://schemas.microsoft.com/office/drawing/2014/main" id="{B97B2EA9-9354-91DA-AA85-346CE4A7F9B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35050" y="8680450"/>
            <a:ext cx="22049710" cy="36957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5FF673C9-AF73-CBCD-4166-50DEE741BE44}"/>
              </a:ext>
            </a:extLst>
          </p:cNvPr>
          <p:cNvSpPr txBox="1"/>
          <p:nvPr/>
        </p:nvSpPr>
        <p:spPr>
          <a:xfrm>
            <a:off x="1278859" y="4724124"/>
            <a:ext cx="10566401" cy="3416575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204000"/>
              </a:lnSpc>
              <a:defRPr/>
            </a:pPr>
            <a:r>
              <a:rPr lang="ko-KR" altLang="en-US" sz="3600" spc="-317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 </a:t>
            </a:r>
            <a:r>
              <a:rPr lang="ko-KR" altLang="en-US" sz="3600" b="0" i="0" u="none" strike="noStrike" spc="-317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배경 </a:t>
            </a:r>
            <a:r>
              <a:rPr lang="en-US" altLang="ko-KR" sz="3600" b="0" i="0" u="none" strike="noStrike" spc="-317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3600" b="0" i="0" u="none" strike="noStrike" spc="-317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국내 태양광 발전 설비는 급격히 증가</a:t>
            </a:r>
            <a:r>
              <a:rPr lang="ko-KR" altLang="en-US" sz="3600" b="0" i="0" u="none" strike="noStrike" spc="-317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했으나</a:t>
            </a:r>
            <a:r>
              <a:rPr lang="en-US" altLang="ko-KR" sz="3600" b="0" i="0" u="none" strike="noStrike" spc="-317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600" b="0" i="0" u="none" strike="noStrike" spc="-317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기상조건 및 지역적 특성에 다른 실제 발전 효율에 대한 정밀 분석은 부족</a:t>
            </a:r>
            <a:r>
              <a:rPr lang="ko-KR" altLang="en-US" sz="3600" b="0" i="0" u="none" strike="noStrike" spc="-317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 실정이다</a:t>
            </a:r>
            <a:r>
              <a:rPr lang="en-US" altLang="ko-KR" sz="3600" b="0" i="0" u="none" strike="noStrike" spc="-317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D7E4EABD-935C-264B-EADA-B1D53AEB3586}"/>
              </a:ext>
            </a:extLst>
          </p:cNvPr>
          <p:cNvSpPr txBox="1"/>
          <p:nvPr/>
        </p:nvSpPr>
        <p:spPr>
          <a:xfrm>
            <a:off x="12350750" y="4685751"/>
            <a:ext cx="11163300" cy="2679974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204000"/>
              </a:lnSpc>
              <a:defRPr/>
            </a:pPr>
            <a:r>
              <a:rPr lang="ko-KR" altLang="en-US" sz="3600" b="0" i="0" u="none" strike="noStrike" spc="-317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 목적</a:t>
            </a:r>
            <a:r>
              <a:rPr lang="en-US" altLang="ko-KR" sz="3600" b="0" i="0" u="none" strike="noStrike" spc="-317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3600" b="0" i="0" u="none" strike="noStrike" spc="-317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지역별 환경 데이터를 기반으로 </a:t>
            </a:r>
            <a:r>
              <a:rPr lang="ko-KR" altLang="en-US" sz="3600" b="0" i="0" u="none" strike="noStrike" spc="-317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지역별 태양광 발전 효율 순위를 도출</a:t>
            </a:r>
            <a:r>
              <a:rPr lang="ko-KR" altLang="en-US" sz="3600" b="0" i="0" u="none" strike="noStrike" spc="-317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하고</a:t>
            </a:r>
            <a:r>
              <a:rPr lang="en-US" altLang="ko-KR" sz="3600" b="0" i="0" u="none" strike="noStrike" spc="-317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600" b="0" i="0" u="none" strike="noStrike" spc="-317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이를 바탕으로 </a:t>
            </a:r>
            <a:r>
              <a:rPr lang="ko-KR" altLang="en-US" sz="3600" b="0" i="0" u="none" strike="noStrike" spc="-317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지역별 맞춤 전략 및 정책 가이드를 제안</a:t>
            </a:r>
            <a:r>
              <a:rPr lang="ko-KR" altLang="en-US" sz="3600" b="0" i="0" u="none" strike="noStrike" spc="-317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하고자 한다</a:t>
            </a:r>
            <a:r>
              <a:rPr lang="en-US" altLang="ko-KR" sz="3600" b="0" i="0" u="none" strike="noStrike" spc="-317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GB" sz="3600" b="0" i="0" u="none" strike="noStrike" spc="-317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83AF5CD5-960D-F095-9444-63B16AC6E0E2}"/>
              </a:ext>
            </a:extLst>
          </p:cNvPr>
          <p:cNvSpPr txBox="1"/>
          <p:nvPr/>
        </p:nvSpPr>
        <p:spPr>
          <a:xfrm>
            <a:off x="1238250" y="9216888"/>
            <a:ext cx="22402801" cy="3207025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204000"/>
              </a:lnSpc>
              <a:defRPr/>
            </a:pPr>
            <a:r>
              <a:rPr lang="en-US" altLang="ko-KR" sz="3600" spc="-317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</a:t>
            </a:r>
            <a:r>
              <a:rPr lang="ko-KR" altLang="en-US" sz="3600" spc="-317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문제제기</a:t>
            </a:r>
            <a:r>
              <a:rPr lang="en-US" altLang="ko-KR" sz="3600" spc="-317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3600" spc="-317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동일 설비 용량 대비 지역별 발전량 편차가 발생하는 원인</a:t>
            </a:r>
            <a:r>
              <a:rPr lang="en-US" altLang="ko-KR" sz="3600" spc="-317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3600" spc="-317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기온</a:t>
            </a:r>
            <a:r>
              <a:rPr lang="en-US" altLang="ko-KR" sz="3600" spc="-317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600" spc="-317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일사량</a:t>
            </a:r>
            <a:r>
              <a:rPr lang="en-US" altLang="ko-KR" sz="3600" spc="-317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600" spc="-317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미세먼지 등</a:t>
            </a:r>
            <a:r>
              <a:rPr lang="en-US" altLang="ko-KR" sz="3600" spc="-317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3600" spc="-317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규명할 필요가 있다</a:t>
            </a:r>
            <a:r>
              <a:rPr lang="en-US" altLang="ko-KR" sz="3600" spc="-317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3600" spc="-317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특히</a:t>
            </a:r>
            <a:r>
              <a:rPr lang="en-US" altLang="ko-KR" sz="3600" spc="-317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600" spc="-317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고온일때 발생하는 패널 효율 저하 현상 등 </a:t>
            </a:r>
            <a:r>
              <a:rPr lang="ko-KR" altLang="en-US" sz="3600" spc="-317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외부요인에 따른 실질 효율 분석이 시급하다</a:t>
            </a:r>
            <a:r>
              <a:rPr lang="en-US" altLang="ko-KR" sz="3600" spc="-317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15" name="Picture 15">
            <a:extLst>
              <a:ext uri="{FF2B5EF4-FFF2-40B4-BE49-F238E27FC236}">
                <a16:creationId xmlns:a16="http://schemas.microsoft.com/office/drawing/2014/main" id="{A1669AD8-FC48-5152-6E38-EAE2F0D763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6000" y="9268735"/>
            <a:ext cx="1322561" cy="120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418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89000" y="736600"/>
            <a:ext cx="22606000" cy="3695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16200000">
            <a:off x="7073900" y="-3289300"/>
            <a:ext cx="10236200" cy="22606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4">
            <a:alphaModFix amt="50000"/>
          </a:blip>
          <a:stretch>
            <a:fillRect/>
          </a:stretch>
        </p:blipFill>
        <p:spPr>
          <a:xfrm>
            <a:off x="844550" y="3429000"/>
            <a:ext cx="22694900" cy="99060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4483100" y="2019300"/>
            <a:ext cx="14605000" cy="1257300"/>
          </a:xfrm>
          <a:prstGeom prst="rect">
            <a:avLst/>
          </a:prstGeom>
        </p:spPr>
        <p:txBody>
          <a:bodyPr lIns="0" tIns="89745" rIns="0" bIns="89745" anchor="ctr"/>
          <a:lstStyle/>
          <a:p>
            <a:pPr lvl="0" algn="l">
              <a:lnSpc>
                <a:spcPct val="100000"/>
              </a:lnSpc>
              <a:defRPr/>
            </a:pPr>
            <a:r>
              <a:rPr lang="ko-KR" altLang="en-US" sz="7065" spc="-71" dirty="0">
                <a:solidFill>
                  <a:srgbClr val="FFFFFF"/>
                </a:solidFill>
                <a:ea typeface="MapoDPP"/>
              </a:rPr>
              <a:t>국내 </a:t>
            </a:r>
            <a:r>
              <a:rPr lang="ko-KR" altLang="en-US" sz="7065" b="0" i="0" u="none" strike="noStrike" spc="-71" dirty="0">
                <a:solidFill>
                  <a:srgbClr val="FFFFFF"/>
                </a:solidFill>
                <a:ea typeface="MapoDPP"/>
              </a:rPr>
              <a:t>지역별</a:t>
            </a:r>
            <a:r>
              <a:rPr lang="en-US" sz="7065" b="0" i="0" u="none" strike="noStrike" spc="-71" dirty="0">
                <a:solidFill>
                  <a:srgbClr val="FFFFFF"/>
                </a:solidFill>
                <a:latin typeface="MapoDPP"/>
              </a:rPr>
              <a:t> </a:t>
            </a:r>
            <a:r>
              <a:rPr lang="ko-KR" sz="7065" b="0" i="0" u="none" strike="noStrike" spc="-71" dirty="0">
                <a:solidFill>
                  <a:srgbClr val="FFFFFF"/>
                </a:solidFill>
                <a:ea typeface="MapoDPP"/>
              </a:rPr>
              <a:t>태양광</a:t>
            </a:r>
            <a:r>
              <a:rPr lang="en-US" sz="7065" b="0" i="0" u="none" strike="noStrike" spc="-71" dirty="0">
                <a:solidFill>
                  <a:srgbClr val="FFFFFF"/>
                </a:solidFill>
                <a:latin typeface="MapoDPP"/>
              </a:rPr>
              <a:t> </a:t>
            </a:r>
            <a:r>
              <a:rPr lang="ko-KR" sz="7065" b="0" i="0" u="none" strike="noStrike" spc="-71" dirty="0">
                <a:solidFill>
                  <a:srgbClr val="FFFFFF"/>
                </a:solidFill>
                <a:ea typeface="MapoDPP"/>
              </a:rPr>
              <a:t>발전</a:t>
            </a:r>
            <a:r>
              <a:rPr lang="en-US" altLang="ko-KR" sz="7065" b="0" i="0" u="none" strike="noStrike" spc="-71" dirty="0">
                <a:solidFill>
                  <a:srgbClr val="FFFFFF"/>
                </a:solidFill>
                <a:ea typeface="MapoDPP"/>
              </a:rPr>
              <a:t> </a:t>
            </a:r>
            <a:r>
              <a:rPr lang="ko-KR" altLang="en-US" sz="7065" spc="-71" dirty="0">
                <a:solidFill>
                  <a:srgbClr val="FFFFFF"/>
                </a:solidFill>
                <a:ea typeface="MapoDPP"/>
              </a:rPr>
              <a:t>및 현황분석</a:t>
            </a:r>
            <a:endParaRPr lang="ko-KR" sz="7065" b="0" i="0" u="none" strike="noStrike" spc="-71" dirty="0">
              <a:solidFill>
                <a:srgbClr val="FFFFFF"/>
              </a:solidFill>
              <a:ea typeface="MapoDPP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9462750" y="0"/>
            <a:ext cx="4775200" cy="43942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6575FE8-7856-4C4E-2DE6-E56327439F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998" y="3530600"/>
            <a:ext cx="13230225" cy="958215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828800" y="1289051"/>
            <a:ext cx="2514600" cy="2514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342900" y="-292099"/>
            <a:ext cx="5486400" cy="5486400"/>
          </a:xfrm>
          <a:prstGeom prst="rect">
            <a:avLst/>
          </a:prstGeom>
        </p:spPr>
      </p:pic>
      <p:sp>
        <p:nvSpPr>
          <p:cNvPr id="6" name="TextBox 9">
            <a:extLst>
              <a:ext uri="{FF2B5EF4-FFF2-40B4-BE49-F238E27FC236}">
                <a16:creationId xmlns:a16="http://schemas.microsoft.com/office/drawing/2014/main" id="{7E99F14B-4EFD-9AE6-9974-703F74F0BC2B}"/>
              </a:ext>
            </a:extLst>
          </p:cNvPr>
          <p:cNvSpPr txBox="1"/>
          <p:nvPr/>
        </p:nvSpPr>
        <p:spPr>
          <a:xfrm>
            <a:off x="14119223" y="4584700"/>
            <a:ext cx="9331329" cy="7696201"/>
          </a:xfrm>
          <a:prstGeom prst="rect">
            <a:avLst/>
          </a:prstGeom>
        </p:spPr>
        <p:txBody>
          <a:bodyPr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3600" dirty="0">
                <a:latin typeface="Arial" panose="020B0604020202020204" pitchFamily="34" charset="0"/>
              </a:rPr>
              <a:t>2021년부터 2024년까지 전 지역에서 태양광 발전량이 꾸준한 </a:t>
            </a:r>
            <a:r>
              <a:rPr lang="ko-KR" altLang="ko-KR" sz="3600" dirty="0" err="1">
                <a:latin typeface="Arial" panose="020B0604020202020204" pitchFamily="34" charset="0"/>
              </a:rPr>
              <a:t>우상향</a:t>
            </a:r>
            <a:r>
              <a:rPr lang="ko-KR" altLang="ko-KR" sz="3600" dirty="0">
                <a:latin typeface="Arial" panose="020B0604020202020204" pitchFamily="34" charset="0"/>
              </a:rPr>
              <a:t> 곡선을 그리며 </a:t>
            </a:r>
            <a:r>
              <a:rPr lang="ko-KR" altLang="ko-KR" sz="3600" dirty="0">
                <a:solidFill>
                  <a:srgbClr val="FF0000"/>
                </a:solidFill>
                <a:latin typeface="Arial" panose="020B0604020202020204" pitchFamily="34" charset="0"/>
              </a:rPr>
              <a:t>양적 성장을 지속</a:t>
            </a:r>
            <a:r>
              <a:rPr lang="ko-KR" altLang="ko-KR" sz="3600" dirty="0">
                <a:latin typeface="Arial" panose="020B0604020202020204" pitchFamily="34" charset="0"/>
              </a:rPr>
              <a:t>하고 있습니다.</a:t>
            </a:r>
            <a:endParaRPr lang="en-US" altLang="ko-KR" sz="36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ko-KR" altLang="ko-KR" sz="36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3600" dirty="0">
                <a:latin typeface="Arial" panose="020B0604020202020204" pitchFamily="34" charset="0"/>
              </a:rPr>
              <a:t>특히 </a:t>
            </a:r>
            <a:r>
              <a:rPr lang="ko-KR" altLang="ko-KR" sz="3600" dirty="0">
                <a:solidFill>
                  <a:srgbClr val="FF0000"/>
                </a:solidFill>
                <a:latin typeface="Arial" panose="020B0604020202020204" pitchFamily="34" charset="0"/>
              </a:rPr>
              <a:t>전남과 전북 지역</a:t>
            </a:r>
            <a:r>
              <a:rPr lang="ko-KR" altLang="ko-KR" sz="3600" dirty="0">
                <a:latin typeface="Arial" panose="020B0604020202020204" pitchFamily="34" charset="0"/>
              </a:rPr>
              <a:t>은 풍부한 일조량과 넓은 유휴 부지를 바탕으로 </a:t>
            </a:r>
            <a:r>
              <a:rPr lang="ko-KR" altLang="ko-KR" sz="3600" dirty="0">
                <a:solidFill>
                  <a:srgbClr val="FF0000"/>
                </a:solidFill>
                <a:latin typeface="Arial" panose="020B0604020202020204" pitchFamily="34" charset="0"/>
              </a:rPr>
              <a:t>전국 최고 수준의 발전량을 기록</a:t>
            </a:r>
            <a:r>
              <a:rPr lang="ko-KR" altLang="ko-KR" sz="3600" dirty="0">
                <a:latin typeface="Arial" panose="020B0604020202020204" pitchFamily="34" charset="0"/>
              </a:rPr>
              <a:t>하며 전체 성장을 견인하고 있습니다.</a:t>
            </a:r>
            <a:endParaRPr lang="en-US" altLang="ko-KR" sz="36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ko-KR" altLang="ko-KR" sz="36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3600" dirty="0">
                <a:latin typeface="Arial" panose="020B0604020202020204" pitchFamily="34" charset="0"/>
              </a:rPr>
              <a:t>반면, </a:t>
            </a:r>
            <a:r>
              <a:rPr lang="ko-KR" altLang="ko-KR" sz="3600" dirty="0">
                <a:solidFill>
                  <a:srgbClr val="FF0000"/>
                </a:solidFill>
                <a:latin typeface="Arial" panose="020B0604020202020204" pitchFamily="34" charset="0"/>
              </a:rPr>
              <a:t>수도권 및 일부 도심 지역</a:t>
            </a:r>
            <a:r>
              <a:rPr lang="ko-KR" altLang="ko-KR" sz="3600" dirty="0">
                <a:latin typeface="Arial" panose="020B0604020202020204" pitchFamily="34" charset="0"/>
              </a:rPr>
              <a:t>은</a:t>
            </a:r>
            <a:r>
              <a:rPr lang="ko-KR" altLang="ko-KR" sz="36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ko-KR" altLang="ko-KR" sz="3600" dirty="0">
                <a:latin typeface="Arial" panose="020B0604020202020204" pitchFamily="34" charset="0"/>
              </a:rPr>
              <a:t>입지 제약으로 인해 </a:t>
            </a:r>
            <a:r>
              <a:rPr lang="ko-KR" altLang="ko-KR" sz="3600" dirty="0">
                <a:solidFill>
                  <a:srgbClr val="FF0000"/>
                </a:solidFill>
                <a:latin typeface="Arial" panose="020B0604020202020204" pitchFamily="34" charset="0"/>
              </a:rPr>
              <a:t>발전량 증가폭이 상대적으로 완만</a:t>
            </a:r>
            <a:r>
              <a:rPr lang="ko-KR" altLang="ko-KR" sz="3600" dirty="0">
                <a:latin typeface="Arial" panose="020B0604020202020204" pitchFamily="34" charset="0"/>
              </a:rPr>
              <a:t>하게 나타나며 지역 간 뚜렷한 격차를 보입니다.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B3FEA-5432-D35E-723E-C0DCD2BE1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020AE74-7AE3-C5A1-CD90-92C596D82D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89000" y="736600"/>
            <a:ext cx="22606000" cy="3695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87C4442E-EC5D-DE0A-856B-4D1CA519F5C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16200000">
            <a:off x="7073900" y="-3289300"/>
            <a:ext cx="10236200" cy="22606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494AE8A6-AC8B-63D3-003F-73C12835C06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50000"/>
          </a:blip>
          <a:stretch>
            <a:fillRect/>
          </a:stretch>
        </p:blipFill>
        <p:spPr>
          <a:xfrm>
            <a:off x="844550" y="3429000"/>
            <a:ext cx="22694900" cy="9906000"/>
          </a:xfrm>
          <a:prstGeom prst="rect">
            <a:avLst/>
          </a:prstGeom>
        </p:spPr>
      </p:pic>
      <p:sp>
        <p:nvSpPr>
          <p:cNvPr id="12" name="TextBox 12">
            <a:extLst>
              <a:ext uri="{FF2B5EF4-FFF2-40B4-BE49-F238E27FC236}">
                <a16:creationId xmlns:a16="http://schemas.microsoft.com/office/drawing/2014/main" id="{1385C549-6F91-24F7-DB8E-01FA673BC18A}"/>
              </a:ext>
            </a:extLst>
          </p:cNvPr>
          <p:cNvSpPr txBox="1"/>
          <p:nvPr/>
        </p:nvSpPr>
        <p:spPr>
          <a:xfrm>
            <a:off x="4483100" y="2019300"/>
            <a:ext cx="14605000" cy="1257300"/>
          </a:xfrm>
          <a:prstGeom prst="rect">
            <a:avLst/>
          </a:prstGeom>
        </p:spPr>
        <p:txBody>
          <a:bodyPr lIns="0" tIns="89745" rIns="0" bIns="89745" anchor="ctr"/>
          <a:lstStyle/>
          <a:p>
            <a:pPr lvl="0" algn="l">
              <a:lnSpc>
                <a:spcPct val="100000"/>
              </a:lnSpc>
              <a:defRPr/>
            </a:pPr>
            <a:r>
              <a:rPr lang="ko-KR" altLang="en-US" sz="7065" spc="-71" dirty="0">
                <a:solidFill>
                  <a:srgbClr val="FFFFFF"/>
                </a:solidFill>
                <a:ea typeface="MapoDPP"/>
              </a:rPr>
              <a:t>국내 </a:t>
            </a:r>
            <a:r>
              <a:rPr lang="ko-KR" altLang="en-US" sz="7065" b="0" i="0" u="none" strike="noStrike" spc="-71" dirty="0">
                <a:solidFill>
                  <a:srgbClr val="FFFFFF"/>
                </a:solidFill>
                <a:ea typeface="MapoDPP"/>
              </a:rPr>
              <a:t>지역별</a:t>
            </a:r>
            <a:r>
              <a:rPr lang="en-US" sz="7065" b="0" i="0" u="none" strike="noStrike" spc="-71" dirty="0">
                <a:solidFill>
                  <a:srgbClr val="FFFFFF"/>
                </a:solidFill>
                <a:latin typeface="MapoDPP"/>
              </a:rPr>
              <a:t> </a:t>
            </a:r>
            <a:r>
              <a:rPr lang="ko-KR" sz="7065" b="0" i="0" u="none" strike="noStrike" spc="-71" dirty="0">
                <a:solidFill>
                  <a:srgbClr val="FFFFFF"/>
                </a:solidFill>
                <a:ea typeface="MapoDPP"/>
              </a:rPr>
              <a:t>태양광</a:t>
            </a:r>
            <a:r>
              <a:rPr lang="en-US" sz="7065" b="0" i="0" u="none" strike="noStrike" spc="-71" dirty="0">
                <a:solidFill>
                  <a:srgbClr val="FFFFFF"/>
                </a:solidFill>
                <a:latin typeface="MapoDPP"/>
              </a:rPr>
              <a:t> </a:t>
            </a:r>
            <a:r>
              <a:rPr lang="ko-KR" sz="7065" b="0" i="0" u="none" strike="noStrike" spc="-71" dirty="0">
                <a:solidFill>
                  <a:srgbClr val="FFFFFF"/>
                </a:solidFill>
                <a:ea typeface="MapoDPP"/>
              </a:rPr>
              <a:t>발전</a:t>
            </a:r>
            <a:r>
              <a:rPr lang="en-US" altLang="ko-KR" sz="7065" b="0" i="0" u="none" strike="noStrike" spc="-71" dirty="0">
                <a:solidFill>
                  <a:srgbClr val="FFFFFF"/>
                </a:solidFill>
                <a:ea typeface="MapoDPP"/>
              </a:rPr>
              <a:t> </a:t>
            </a:r>
            <a:r>
              <a:rPr lang="ko-KR" altLang="en-US" sz="7065" spc="-71" dirty="0">
                <a:solidFill>
                  <a:srgbClr val="FFFFFF"/>
                </a:solidFill>
                <a:ea typeface="MapoDPP"/>
              </a:rPr>
              <a:t>및 현황분석</a:t>
            </a:r>
            <a:endParaRPr lang="ko-KR" sz="7065" b="0" i="0" u="none" strike="noStrike" spc="-71" dirty="0">
              <a:solidFill>
                <a:srgbClr val="FFFFFF"/>
              </a:solidFill>
              <a:ea typeface="MapoDPP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34DF1E1-2B13-B1FE-3F99-FD37CE42F4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550" y="3443286"/>
            <a:ext cx="22764750" cy="9420225"/>
          </a:xfrm>
          <a:prstGeom prst="rect">
            <a:avLst/>
          </a:prstGeom>
        </p:spPr>
      </p:pic>
      <p:sp>
        <p:nvSpPr>
          <p:cNvPr id="6" name="TextBox 9">
            <a:extLst>
              <a:ext uri="{FF2B5EF4-FFF2-40B4-BE49-F238E27FC236}">
                <a16:creationId xmlns:a16="http://schemas.microsoft.com/office/drawing/2014/main" id="{6121ED5B-6442-9BBF-04F0-EAE1BED00CE0}"/>
              </a:ext>
            </a:extLst>
          </p:cNvPr>
          <p:cNvSpPr txBox="1"/>
          <p:nvPr/>
        </p:nvSpPr>
        <p:spPr>
          <a:xfrm>
            <a:off x="5257800" y="6642099"/>
            <a:ext cx="14211300" cy="3568701"/>
          </a:xfrm>
          <a:prstGeom prst="rect">
            <a:avLst/>
          </a:prstGeom>
        </p:spPr>
        <p:txBody>
          <a:bodyPr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3600" dirty="0">
                <a:latin typeface="Arial" panose="020B0604020202020204" pitchFamily="34" charset="0"/>
              </a:rPr>
              <a:t>2021</a:t>
            </a:r>
            <a:endParaRPr lang="en-US" altLang="ko-KR" sz="3600" dirty="0">
              <a:latin typeface="Arial" panose="020B0604020202020204" pitchFamily="34" charset="0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676DF994-ACB4-4C2B-E6DF-8394D183B68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8885535" y="-196849"/>
            <a:ext cx="4775200" cy="43942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4AB7B7D3-1FFA-A264-C82C-4CD40BCF3AF4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828800" y="1289051"/>
            <a:ext cx="2514600" cy="2514600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EC604AE6-E8C8-5B3A-BE2C-FF3D83362F6C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342900" y="-196849"/>
            <a:ext cx="54864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434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434AC-35F4-0D28-60CA-3247C49FC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2B141CC-4969-182C-D873-14C3AA3C49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89000" y="736600"/>
            <a:ext cx="22606000" cy="3695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0E78E408-359A-0A68-F674-D285CC54BD0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16200000">
            <a:off x="7073900" y="-3289300"/>
            <a:ext cx="10236200" cy="22606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C823C384-0788-0DF0-B65B-9B0DD203642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50000"/>
          </a:blip>
          <a:stretch>
            <a:fillRect/>
          </a:stretch>
        </p:blipFill>
        <p:spPr>
          <a:xfrm>
            <a:off x="844550" y="3429000"/>
            <a:ext cx="22694900" cy="9906000"/>
          </a:xfrm>
          <a:prstGeom prst="rect">
            <a:avLst/>
          </a:prstGeom>
        </p:spPr>
      </p:pic>
      <p:sp>
        <p:nvSpPr>
          <p:cNvPr id="12" name="TextBox 12">
            <a:extLst>
              <a:ext uri="{FF2B5EF4-FFF2-40B4-BE49-F238E27FC236}">
                <a16:creationId xmlns:a16="http://schemas.microsoft.com/office/drawing/2014/main" id="{681F9F05-B34A-A903-EBE1-A1404756A283}"/>
              </a:ext>
            </a:extLst>
          </p:cNvPr>
          <p:cNvSpPr txBox="1"/>
          <p:nvPr/>
        </p:nvSpPr>
        <p:spPr>
          <a:xfrm>
            <a:off x="4483100" y="2019300"/>
            <a:ext cx="14605000" cy="1257300"/>
          </a:xfrm>
          <a:prstGeom prst="rect">
            <a:avLst/>
          </a:prstGeom>
        </p:spPr>
        <p:txBody>
          <a:bodyPr lIns="0" tIns="89745" rIns="0" bIns="89745" anchor="ctr"/>
          <a:lstStyle/>
          <a:p>
            <a:pPr lvl="0" algn="l">
              <a:lnSpc>
                <a:spcPct val="100000"/>
              </a:lnSpc>
              <a:defRPr/>
            </a:pPr>
            <a:r>
              <a:rPr lang="ko-KR" altLang="en-US" sz="7065" spc="-71" dirty="0">
                <a:solidFill>
                  <a:srgbClr val="FFFFFF"/>
                </a:solidFill>
                <a:ea typeface="MapoDPP"/>
              </a:rPr>
              <a:t>국내 </a:t>
            </a:r>
            <a:r>
              <a:rPr lang="ko-KR" altLang="en-US" sz="7065" b="0" i="0" u="none" strike="noStrike" spc="-71" dirty="0">
                <a:solidFill>
                  <a:srgbClr val="FFFFFF"/>
                </a:solidFill>
                <a:ea typeface="MapoDPP"/>
              </a:rPr>
              <a:t>지역별</a:t>
            </a:r>
            <a:r>
              <a:rPr lang="en-US" sz="7065" b="0" i="0" u="none" strike="noStrike" spc="-71" dirty="0">
                <a:solidFill>
                  <a:srgbClr val="FFFFFF"/>
                </a:solidFill>
                <a:latin typeface="MapoDPP"/>
              </a:rPr>
              <a:t> </a:t>
            </a:r>
            <a:r>
              <a:rPr lang="ko-KR" sz="7065" b="0" i="0" u="none" strike="noStrike" spc="-71" dirty="0">
                <a:solidFill>
                  <a:srgbClr val="FFFFFF"/>
                </a:solidFill>
                <a:ea typeface="MapoDPP"/>
              </a:rPr>
              <a:t>태양광</a:t>
            </a:r>
            <a:r>
              <a:rPr lang="en-US" sz="7065" b="0" i="0" u="none" strike="noStrike" spc="-71" dirty="0">
                <a:solidFill>
                  <a:srgbClr val="FFFFFF"/>
                </a:solidFill>
                <a:latin typeface="MapoDPP"/>
              </a:rPr>
              <a:t> </a:t>
            </a:r>
            <a:r>
              <a:rPr lang="ko-KR" sz="7065" b="0" i="0" u="none" strike="noStrike" spc="-71" dirty="0">
                <a:solidFill>
                  <a:srgbClr val="FFFFFF"/>
                </a:solidFill>
                <a:ea typeface="MapoDPP"/>
              </a:rPr>
              <a:t>발전</a:t>
            </a:r>
            <a:r>
              <a:rPr lang="en-US" altLang="ko-KR" sz="7065" b="0" i="0" u="none" strike="noStrike" spc="-71" dirty="0">
                <a:solidFill>
                  <a:srgbClr val="FFFFFF"/>
                </a:solidFill>
                <a:ea typeface="MapoDPP"/>
              </a:rPr>
              <a:t> </a:t>
            </a:r>
            <a:r>
              <a:rPr lang="ko-KR" altLang="en-US" sz="7065" spc="-71" dirty="0">
                <a:solidFill>
                  <a:srgbClr val="FFFFFF"/>
                </a:solidFill>
                <a:ea typeface="MapoDPP"/>
              </a:rPr>
              <a:t>및 현황분석</a:t>
            </a:r>
            <a:endParaRPr lang="ko-KR" sz="7065" b="0" i="0" u="none" strike="noStrike" spc="-71" dirty="0">
              <a:solidFill>
                <a:srgbClr val="FFFFFF"/>
              </a:solidFill>
              <a:ea typeface="MapoDPP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F205B245-347B-EAF3-51A4-75B5AE9A68F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8727420" y="965200"/>
            <a:ext cx="4775200" cy="43942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CC67C53C-80D2-7CFC-A8D1-9F205F2C8E5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828800" y="1289051"/>
            <a:ext cx="2514600" cy="2514600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3DF8E359-3379-8FB9-06CE-88B1E95FFCEB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342900" y="-292099"/>
            <a:ext cx="5486400" cy="5486400"/>
          </a:xfrm>
          <a:prstGeom prst="rect">
            <a:avLst/>
          </a:prstGeom>
        </p:spPr>
      </p:pic>
      <p:sp>
        <p:nvSpPr>
          <p:cNvPr id="6" name="TextBox 9">
            <a:extLst>
              <a:ext uri="{FF2B5EF4-FFF2-40B4-BE49-F238E27FC236}">
                <a16:creationId xmlns:a16="http://schemas.microsoft.com/office/drawing/2014/main" id="{648A9AF7-5035-1F22-1460-B733F5A26737}"/>
              </a:ext>
            </a:extLst>
          </p:cNvPr>
          <p:cNvSpPr txBox="1"/>
          <p:nvPr/>
        </p:nvSpPr>
        <p:spPr>
          <a:xfrm>
            <a:off x="14163671" y="5435599"/>
            <a:ext cx="9331329" cy="7696201"/>
          </a:xfrm>
          <a:prstGeom prst="rect">
            <a:avLst/>
          </a:prstGeom>
        </p:spPr>
        <p:txBody>
          <a:bodyPr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3600" dirty="0">
                <a:latin typeface="Arial" panose="020B0604020202020204" pitchFamily="34" charset="0"/>
              </a:rPr>
              <a:t>2021년부터 2024년까지 전 지역에서 태양광 발전량이 꾸준한 </a:t>
            </a:r>
            <a:r>
              <a:rPr lang="ko-KR" altLang="ko-KR" sz="3600" dirty="0" err="1">
                <a:latin typeface="Arial" panose="020B0604020202020204" pitchFamily="34" charset="0"/>
              </a:rPr>
              <a:t>우상향</a:t>
            </a:r>
            <a:r>
              <a:rPr lang="ko-KR" altLang="ko-KR" sz="3600" dirty="0">
                <a:latin typeface="Arial" panose="020B0604020202020204" pitchFamily="34" charset="0"/>
              </a:rPr>
              <a:t> 곡선을 그리며 </a:t>
            </a:r>
            <a:r>
              <a:rPr lang="ko-KR" altLang="ko-KR" sz="3600" dirty="0">
                <a:solidFill>
                  <a:srgbClr val="FF0000"/>
                </a:solidFill>
                <a:latin typeface="Arial" panose="020B0604020202020204" pitchFamily="34" charset="0"/>
              </a:rPr>
              <a:t>양적 성장을 지속</a:t>
            </a:r>
            <a:r>
              <a:rPr lang="ko-KR" altLang="ko-KR" sz="3600" dirty="0">
                <a:latin typeface="Arial" panose="020B0604020202020204" pitchFamily="34" charset="0"/>
              </a:rPr>
              <a:t>하고 있습니다.</a:t>
            </a:r>
            <a:endParaRPr lang="en-US" altLang="ko-KR" sz="3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973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89000" y="736600"/>
            <a:ext cx="22606000" cy="3695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16200000">
            <a:off x="7073900" y="-3289300"/>
            <a:ext cx="10236200" cy="22606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358900" y="5422900"/>
            <a:ext cx="4381500" cy="6692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635500" y="9791700"/>
            <a:ext cx="876300" cy="13081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6146800" y="3810000"/>
            <a:ext cx="17399000" cy="8686800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207000"/>
              </a:lnSpc>
              <a:defRPr/>
            </a:pPr>
            <a:r>
              <a:rPr lang="en-US" sz="4510" b="1" i="0" u="none" strike="noStrike" spc="-361">
                <a:solidFill>
                  <a:srgbClr val="FFFFFF"/>
                </a:solidFill>
                <a:latin typeface="Pretendard Regular"/>
              </a:rPr>
              <a:t>-</a:t>
            </a:r>
            <a:r>
              <a:rPr lang="en-US" sz="4300" b="1" i="0" u="none" strike="noStrike" spc="-361">
                <a:solidFill>
                  <a:srgbClr val="FFFFFF"/>
                </a:solidFill>
                <a:latin typeface="Pretendard Regular"/>
              </a:rPr>
              <a:t> 17</a:t>
            </a:r>
            <a:r>
              <a:rPr lang="ko-KR" sz="4300" b="1" i="0" u="none" strike="noStrike" spc="-361">
                <a:solidFill>
                  <a:srgbClr val="FFFFFF"/>
                </a:solidFill>
                <a:ea typeface="Pretendard Regular"/>
              </a:rPr>
              <a:t>개</a:t>
            </a:r>
            <a:r>
              <a:rPr lang="en-US" sz="4300" b="1" i="0" u="none" strike="noStrike" spc="-361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4300" b="1" i="0" u="none" strike="noStrike" spc="-361">
                <a:solidFill>
                  <a:srgbClr val="FFFFFF"/>
                </a:solidFill>
                <a:ea typeface="Pretendard Regular"/>
              </a:rPr>
              <a:t>시도별</a:t>
            </a:r>
            <a:r>
              <a:rPr lang="en-US" sz="4300" b="1" i="0" u="none" strike="noStrike" spc="-361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4300" b="1" i="0" u="none" strike="noStrike" spc="-361">
                <a:solidFill>
                  <a:srgbClr val="FFFFFF"/>
                </a:solidFill>
                <a:ea typeface="Pretendard Regular"/>
              </a:rPr>
              <a:t>발전량</a:t>
            </a:r>
            <a:r>
              <a:rPr lang="en-US" sz="4300" b="1" i="0" u="none" strike="noStrike" spc="-361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4300" b="1" i="0" u="none" strike="noStrike" spc="-361">
                <a:solidFill>
                  <a:srgbClr val="FFFFFF"/>
                </a:solidFill>
                <a:ea typeface="Pretendard Regular"/>
              </a:rPr>
              <a:t>비교</a:t>
            </a:r>
            <a:r>
              <a:rPr lang="en-US" sz="4300" b="1" i="0" u="none" strike="noStrike" spc="-361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4300" b="1" i="0" u="none" strike="noStrike" spc="-361">
                <a:solidFill>
                  <a:srgbClr val="FFFFFF"/>
                </a:solidFill>
                <a:ea typeface="Pretendard Regular"/>
              </a:rPr>
              <a:t>결과</a:t>
            </a:r>
            <a:r>
              <a:rPr lang="en-US" sz="4300" b="1" i="0" u="none" strike="noStrike" spc="-361">
                <a:solidFill>
                  <a:srgbClr val="FFFFFF"/>
                </a:solidFill>
                <a:latin typeface="Pretendard Regular"/>
              </a:rPr>
              <a:t>, </a:t>
            </a:r>
            <a:r>
              <a:rPr lang="ko-KR" sz="4300" b="1" i="0" u="none" strike="noStrike" spc="-361">
                <a:solidFill>
                  <a:srgbClr val="FFFFFF"/>
                </a:solidFill>
                <a:ea typeface="Pretendard Regular"/>
              </a:rPr>
              <a:t>남부권</a:t>
            </a:r>
            <a:r>
              <a:rPr lang="en-US" sz="4300" b="1" i="0" u="none" strike="noStrike" spc="-361">
                <a:solidFill>
                  <a:srgbClr val="FFFFFF"/>
                </a:solidFill>
                <a:latin typeface="Pretendard Regular"/>
              </a:rPr>
              <a:t>(</a:t>
            </a:r>
            <a:r>
              <a:rPr lang="ko-KR" sz="4300" b="1" i="0" u="none" strike="noStrike" spc="-361">
                <a:solidFill>
                  <a:srgbClr val="FFFFFF"/>
                </a:solidFill>
                <a:ea typeface="Pretendard Regular"/>
              </a:rPr>
              <a:t>전남</a:t>
            </a:r>
            <a:r>
              <a:rPr lang="en-US" sz="4300" b="1" i="0" u="none" strike="noStrike" spc="-361">
                <a:solidFill>
                  <a:srgbClr val="FFFFFF"/>
                </a:solidFill>
                <a:latin typeface="Pretendard Regular"/>
              </a:rPr>
              <a:t>, </a:t>
            </a:r>
            <a:r>
              <a:rPr lang="ko-KR" sz="4300" b="1" i="0" u="none" strike="noStrike" spc="-361">
                <a:solidFill>
                  <a:srgbClr val="FFFFFF"/>
                </a:solidFill>
                <a:ea typeface="Pretendard Regular"/>
              </a:rPr>
              <a:t>경북</a:t>
            </a:r>
            <a:r>
              <a:rPr lang="en-US" sz="4300" b="1" i="0" u="none" strike="noStrike" spc="-361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4300" b="1" i="0" u="none" strike="noStrike" spc="-361">
                <a:solidFill>
                  <a:srgbClr val="FFFFFF"/>
                </a:solidFill>
                <a:ea typeface="Pretendard Regular"/>
              </a:rPr>
              <a:t>등</a:t>
            </a:r>
            <a:r>
              <a:rPr lang="en-US" sz="4300" b="1" i="0" u="none" strike="noStrike" spc="-361">
                <a:solidFill>
                  <a:srgbClr val="FFFFFF"/>
                </a:solidFill>
                <a:latin typeface="Pretendard Regular"/>
              </a:rPr>
              <a:t>)</a:t>
            </a:r>
            <a:r>
              <a:rPr lang="ko-KR" sz="4300" b="1" i="0" u="none" strike="noStrike" spc="-361">
                <a:solidFill>
                  <a:srgbClr val="FFFFFF"/>
                </a:solidFill>
                <a:ea typeface="Pretendard Regular"/>
              </a:rPr>
              <a:t>이</a:t>
            </a:r>
            <a:r>
              <a:rPr lang="en-US" sz="4300" b="1" i="0" u="none" strike="noStrike" spc="-361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4300" b="1" i="0" u="none" strike="noStrike" spc="-361">
                <a:solidFill>
                  <a:srgbClr val="FFFFFF"/>
                </a:solidFill>
                <a:ea typeface="Pretendard Regular"/>
              </a:rPr>
              <a:t>전체</a:t>
            </a:r>
            <a:r>
              <a:rPr lang="en-US" sz="4300" b="1" i="0" u="none" strike="noStrike" spc="-361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4300" b="1" i="0" u="none" strike="noStrike" spc="-361">
                <a:solidFill>
                  <a:srgbClr val="FFFFFF"/>
                </a:solidFill>
                <a:ea typeface="Pretendard Regular"/>
              </a:rPr>
              <a:t>발전량의</a:t>
            </a:r>
            <a:r>
              <a:rPr lang="en-US" sz="4300" b="1" i="0" u="none" strike="noStrike" spc="-361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4300" b="1" i="0" u="none" strike="noStrike" spc="-361">
                <a:solidFill>
                  <a:srgbClr val="FFFFFF"/>
                </a:solidFill>
                <a:ea typeface="Pretendard Regular"/>
              </a:rPr>
              <a:t>상당</a:t>
            </a:r>
            <a:r>
              <a:rPr lang="en-US" sz="4300" b="1" i="0" u="none" strike="noStrike" spc="-361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4300" b="1" i="0" u="none" strike="noStrike" spc="-361">
                <a:solidFill>
                  <a:srgbClr val="FFFFFF"/>
                </a:solidFill>
                <a:ea typeface="Pretendard Regular"/>
              </a:rPr>
              <a:t>부분</a:t>
            </a:r>
            <a:r>
              <a:rPr lang="en-US" sz="4300" b="1" i="0" u="none" strike="noStrike" spc="-361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4300" b="1" i="0" u="none" strike="noStrike" spc="-361">
                <a:solidFill>
                  <a:srgbClr val="FFFFFF"/>
                </a:solidFill>
                <a:ea typeface="Pretendard Regular"/>
              </a:rPr>
              <a:t>차지</a:t>
            </a:r>
          </a:p>
          <a:p>
            <a:pPr lvl="0" algn="l">
              <a:lnSpc>
                <a:spcPct val="207000"/>
              </a:lnSpc>
              <a:defRPr/>
            </a:pPr>
            <a:r>
              <a:rPr lang="en-US" sz="4300" b="1" i="0" u="none" strike="noStrike" spc="-361">
                <a:solidFill>
                  <a:srgbClr val="FFFFFF"/>
                </a:solidFill>
                <a:latin typeface="Pretendard Regular"/>
              </a:rPr>
              <a:t>- </a:t>
            </a:r>
            <a:r>
              <a:rPr lang="ko-KR" sz="4300" b="1" i="0" u="none" strike="noStrike" spc="-361">
                <a:solidFill>
                  <a:srgbClr val="FFFFFF"/>
                </a:solidFill>
                <a:ea typeface="Pretendard Regular"/>
              </a:rPr>
              <a:t>일사량이</a:t>
            </a:r>
            <a:r>
              <a:rPr lang="en-US" sz="4300" b="1" i="0" u="none" strike="noStrike" spc="-361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4300" b="1" i="0" u="none" strike="noStrike" spc="-361">
                <a:solidFill>
                  <a:srgbClr val="FFFFFF"/>
                </a:solidFill>
                <a:ea typeface="Pretendard Regular"/>
              </a:rPr>
              <a:t>풍부한</a:t>
            </a:r>
            <a:r>
              <a:rPr lang="en-US" sz="4300" b="1" i="0" u="none" strike="noStrike" spc="-361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4300" b="1" i="0" u="none" strike="noStrike" spc="-361">
                <a:solidFill>
                  <a:srgbClr val="FFFFFF"/>
                </a:solidFill>
                <a:ea typeface="Pretendard Regular"/>
              </a:rPr>
              <a:t>남부지역</a:t>
            </a:r>
            <a:r>
              <a:rPr lang="en-US" sz="4300" b="1" i="0" u="none" strike="noStrike" spc="-361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4300" b="1" i="0" u="none" strike="noStrike" spc="-361">
                <a:solidFill>
                  <a:srgbClr val="FFFFFF"/>
                </a:solidFill>
                <a:ea typeface="Pretendard Regular"/>
              </a:rPr>
              <a:t>중심으로</a:t>
            </a:r>
            <a:r>
              <a:rPr lang="en-US" sz="4300" b="1" i="0" u="none" strike="noStrike" spc="-361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4300" b="1" i="0" u="none" strike="noStrike" spc="-361">
                <a:solidFill>
                  <a:srgbClr val="FFFFFF"/>
                </a:solidFill>
                <a:ea typeface="Pretendard Regular"/>
              </a:rPr>
              <a:t>설비</a:t>
            </a:r>
            <a:r>
              <a:rPr lang="en-US" sz="4300" b="1" i="0" u="none" strike="noStrike" spc="-361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4300" b="1" i="0" u="none" strike="noStrike" spc="-361">
                <a:solidFill>
                  <a:srgbClr val="FFFFFF"/>
                </a:solidFill>
                <a:ea typeface="Pretendard Regular"/>
              </a:rPr>
              <a:t>집중되어</a:t>
            </a:r>
            <a:r>
              <a:rPr lang="en-US" sz="4300" b="1" i="0" u="none" strike="noStrike" spc="-361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4300" b="1" i="0" u="none" strike="noStrike" spc="-361">
                <a:solidFill>
                  <a:srgbClr val="FFFFFF"/>
                </a:solidFill>
                <a:ea typeface="Pretendard Regular"/>
              </a:rPr>
              <a:t>지역별</a:t>
            </a:r>
            <a:r>
              <a:rPr lang="en-US" sz="4300" b="1" i="0" u="none" strike="noStrike" spc="-361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4300" b="1" i="0" u="none" strike="noStrike" spc="-361">
                <a:solidFill>
                  <a:srgbClr val="FFFFFF"/>
                </a:solidFill>
                <a:ea typeface="Pretendard Regular"/>
              </a:rPr>
              <a:t>발전</a:t>
            </a:r>
            <a:r>
              <a:rPr lang="en-US" sz="4300" b="1" i="0" u="none" strike="noStrike" spc="-361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4300" b="1" i="0" u="none" strike="noStrike" spc="-361">
                <a:solidFill>
                  <a:srgbClr val="FFFFFF"/>
                </a:solidFill>
                <a:ea typeface="Pretendard Regular"/>
              </a:rPr>
              <a:t>실적</a:t>
            </a:r>
            <a:r>
              <a:rPr lang="en-US" sz="4300" b="1" i="0" u="none" strike="noStrike" spc="-361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4300" b="1" i="0" u="none" strike="noStrike" spc="-361">
                <a:solidFill>
                  <a:srgbClr val="FFFFFF"/>
                </a:solidFill>
                <a:ea typeface="Pretendard Regular"/>
              </a:rPr>
              <a:t>격차</a:t>
            </a:r>
            <a:r>
              <a:rPr lang="en-US" sz="4300" b="1" i="0" u="none" strike="noStrike" spc="-361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4300" b="1" i="0" u="none" strike="noStrike" spc="-361">
                <a:solidFill>
                  <a:srgbClr val="FFFFFF"/>
                </a:solidFill>
                <a:ea typeface="Pretendard Regular"/>
              </a:rPr>
              <a:t>뚜렷</a:t>
            </a:r>
          </a:p>
          <a:p>
            <a:pPr lvl="0" algn="l">
              <a:lnSpc>
                <a:spcPct val="207000"/>
              </a:lnSpc>
              <a:defRPr/>
            </a:pPr>
            <a:r>
              <a:rPr lang="en-US" sz="4300" b="1" i="0" u="none" strike="noStrike" spc="-361">
                <a:solidFill>
                  <a:srgbClr val="FFFFFF"/>
                </a:solidFill>
                <a:latin typeface="Pretendard Regular"/>
              </a:rPr>
              <a:t>- </a:t>
            </a:r>
            <a:r>
              <a:rPr lang="ko-KR" sz="4300" b="1" i="0" u="none" strike="noStrike" spc="-361">
                <a:solidFill>
                  <a:srgbClr val="FFFFFF"/>
                </a:solidFill>
                <a:ea typeface="Pretendard Regular"/>
              </a:rPr>
              <a:t>지역별</a:t>
            </a:r>
            <a:r>
              <a:rPr lang="en-US" sz="4300" b="1" i="0" u="none" strike="noStrike" spc="-361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4300" b="1" i="0" u="none" strike="noStrike" spc="-361">
                <a:solidFill>
                  <a:srgbClr val="FFFFFF"/>
                </a:solidFill>
                <a:ea typeface="Pretendard Regular"/>
              </a:rPr>
              <a:t>기상</a:t>
            </a:r>
            <a:r>
              <a:rPr lang="en-US" sz="4300" b="1" i="0" u="none" strike="noStrike" spc="-361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4300" b="1" i="0" u="none" strike="noStrike" spc="-361">
                <a:solidFill>
                  <a:srgbClr val="FFFFFF"/>
                </a:solidFill>
                <a:ea typeface="Pretendard Regular"/>
              </a:rPr>
              <a:t>환경</a:t>
            </a:r>
            <a:r>
              <a:rPr lang="en-US" sz="4300" b="1" i="0" u="none" strike="noStrike" spc="-361">
                <a:solidFill>
                  <a:srgbClr val="FFFFFF"/>
                </a:solidFill>
                <a:latin typeface="Pretendard Regular"/>
              </a:rPr>
              <a:t>(</a:t>
            </a:r>
            <a:r>
              <a:rPr lang="ko-KR" sz="4300" b="1" i="0" u="none" strike="noStrike" spc="-361">
                <a:solidFill>
                  <a:srgbClr val="FFFFFF"/>
                </a:solidFill>
                <a:ea typeface="Pretendard Regular"/>
              </a:rPr>
              <a:t>일사량</a:t>
            </a:r>
            <a:r>
              <a:rPr lang="en-US" sz="4300" b="1" i="0" u="none" strike="noStrike" spc="-361">
                <a:solidFill>
                  <a:srgbClr val="FFFFFF"/>
                </a:solidFill>
                <a:latin typeface="Pretendard Regular"/>
              </a:rPr>
              <a:t>, </a:t>
            </a:r>
            <a:r>
              <a:rPr lang="ko-KR" sz="4300" b="1" i="0" u="none" strike="noStrike" spc="-361">
                <a:solidFill>
                  <a:srgbClr val="FFFFFF"/>
                </a:solidFill>
                <a:ea typeface="Pretendard Regular"/>
              </a:rPr>
              <a:t>기온</a:t>
            </a:r>
            <a:r>
              <a:rPr lang="en-US" sz="4300" b="1" i="0" u="none" strike="noStrike" spc="-361">
                <a:solidFill>
                  <a:srgbClr val="FFFFFF"/>
                </a:solidFill>
                <a:latin typeface="Pretendard Regular"/>
              </a:rPr>
              <a:t>, </a:t>
            </a:r>
            <a:r>
              <a:rPr lang="ko-KR" sz="4300" b="1" i="0" u="none" strike="noStrike" spc="-361">
                <a:solidFill>
                  <a:srgbClr val="FFFFFF"/>
                </a:solidFill>
                <a:ea typeface="Pretendard Regular"/>
              </a:rPr>
              <a:t>미세먼지</a:t>
            </a:r>
            <a:r>
              <a:rPr lang="en-US" sz="4300" b="1" i="0" u="none" strike="noStrike" spc="-361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4300" b="1" i="0" u="none" strike="noStrike" spc="-361">
                <a:solidFill>
                  <a:srgbClr val="FFFFFF"/>
                </a:solidFill>
                <a:ea typeface="Pretendard Regular"/>
              </a:rPr>
              <a:t>등</a:t>
            </a:r>
            <a:r>
              <a:rPr lang="en-US" sz="4300" b="1" i="0" u="none" strike="noStrike" spc="-361">
                <a:solidFill>
                  <a:srgbClr val="FFFFFF"/>
                </a:solidFill>
                <a:latin typeface="Pretendard Regular"/>
              </a:rPr>
              <a:t>)</a:t>
            </a:r>
            <a:r>
              <a:rPr lang="ko-KR" sz="4300" b="1" i="0" u="none" strike="noStrike" spc="-361">
                <a:solidFill>
                  <a:srgbClr val="FFFFFF"/>
                </a:solidFill>
                <a:ea typeface="Pretendard Regular"/>
              </a:rPr>
              <a:t>에</a:t>
            </a:r>
            <a:r>
              <a:rPr lang="en-US" sz="4300" b="1" i="0" u="none" strike="noStrike" spc="-361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4300" b="1" i="0" u="none" strike="noStrike" spc="-361">
                <a:solidFill>
                  <a:srgbClr val="FFFFFF"/>
                </a:solidFill>
                <a:ea typeface="Pretendard Regular"/>
              </a:rPr>
              <a:t>따른</a:t>
            </a:r>
            <a:r>
              <a:rPr lang="en-US" sz="4300" b="1" i="0" u="none" strike="noStrike" spc="-361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4300" b="1" i="0" u="none" strike="noStrike" spc="-361">
                <a:solidFill>
                  <a:srgbClr val="FFFFFF"/>
                </a:solidFill>
                <a:ea typeface="Pretendard Regular"/>
              </a:rPr>
              <a:t>발전</a:t>
            </a:r>
            <a:r>
              <a:rPr lang="en-US" sz="4300" b="1" i="0" u="none" strike="noStrike" spc="-361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4300" b="1" i="0" u="none" strike="noStrike" spc="-361">
                <a:solidFill>
                  <a:srgbClr val="FFFFFF"/>
                </a:solidFill>
                <a:ea typeface="Pretendard Regular"/>
              </a:rPr>
              <a:t>효율</a:t>
            </a:r>
            <a:r>
              <a:rPr lang="en-US" sz="4300" b="1" i="0" u="none" strike="noStrike" spc="-361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4300" b="1" i="0" u="none" strike="noStrike" spc="-361">
                <a:solidFill>
                  <a:srgbClr val="FFFFFF"/>
                </a:solidFill>
                <a:ea typeface="Pretendard Regular"/>
              </a:rPr>
              <a:t>차이</a:t>
            </a:r>
            <a:r>
              <a:rPr lang="en-US" sz="4300" b="1" i="0" u="none" strike="noStrike" spc="-361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4300" b="1" i="0" u="none" strike="noStrike" spc="-361">
                <a:solidFill>
                  <a:srgbClr val="FFFFFF"/>
                </a:solidFill>
                <a:ea typeface="Pretendard Regular"/>
              </a:rPr>
              <a:t>발생</a:t>
            </a:r>
          </a:p>
          <a:p>
            <a:pPr lvl="0" algn="l">
              <a:lnSpc>
                <a:spcPct val="207000"/>
              </a:lnSpc>
              <a:defRPr/>
            </a:pPr>
            <a:r>
              <a:rPr lang="en-US" sz="4300" b="1" i="0" u="none" strike="noStrike" spc="-361">
                <a:solidFill>
                  <a:srgbClr val="FFFFFF"/>
                </a:solidFill>
                <a:latin typeface="Pretendard Regular"/>
              </a:rPr>
              <a:t>- </a:t>
            </a:r>
            <a:r>
              <a:rPr lang="ko-KR" sz="4300" b="1" i="0" u="none" strike="noStrike" spc="-361">
                <a:solidFill>
                  <a:srgbClr val="FFFFFF"/>
                </a:solidFill>
                <a:ea typeface="Pretendard Regular"/>
              </a:rPr>
              <a:t>지역</a:t>
            </a:r>
            <a:r>
              <a:rPr lang="en-US" sz="4300" b="1" i="0" u="none" strike="noStrike" spc="-361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4300" b="1" i="0" u="none" strike="noStrike" spc="-361">
                <a:solidFill>
                  <a:srgbClr val="FFFFFF"/>
                </a:solidFill>
                <a:ea typeface="Pretendard Regular"/>
              </a:rPr>
              <a:t>특성을</a:t>
            </a:r>
            <a:r>
              <a:rPr lang="en-US" sz="4300" b="1" i="0" u="none" strike="noStrike" spc="-361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4300" b="1" i="0" u="none" strike="noStrike" spc="-361">
                <a:solidFill>
                  <a:srgbClr val="FFFFFF"/>
                </a:solidFill>
                <a:ea typeface="Pretendard Regular"/>
              </a:rPr>
              <a:t>고려한</a:t>
            </a:r>
            <a:r>
              <a:rPr lang="en-US" sz="4300" b="1" i="0" u="none" strike="noStrike" spc="-361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4300" b="1" i="0" u="none" strike="noStrike" spc="-361">
                <a:solidFill>
                  <a:srgbClr val="FFFFFF"/>
                </a:solidFill>
                <a:ea typeface="Pretendard Regular"/>
              </a:rPr>
              <a:t>맞춤형</a:t>
            </a:r>
            <a:r>
              <a:rPr lang="en-US" sz="4300" b="1" i="0" u="none" strike="noStrike" spc="-361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4300" b="1" i="0" u="none" strike="noStrike" spc="-361">
                <a:solidFill>
                  <a:srgbClr val="FFFFFF"/>
                </a:solidFill>
                <a:ea typeface="Pretendard Regular"/>
              </a:rPr>
              <a:t>발전</a:t>
            </a:r>
            <a:r>
              <a:rPr lang="en-US" sz="4300" b="1" i="0" u="none" strike="noStrike" spc="-361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4300" b="1" i="0" u="none" strike="noStrike" spc="-361">
                <a:solidFill>
                  <a:srgbClr val="FFFFFF"/>
                </a:solidFill>
                <a:ea typeface="Pretendard Regular"/>
              </a:rPr>
              <a:t>전략</a:t>
            </a:r>
            <a:r>
              <a:rPr lang="en-US" sz="4300" b="1" i="0" u="none" strike="noStrike" spc="-361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4300" b="1" i="0" u="none" strike="noStrike" spc="-361">
                <a:solidFill>
                  <a:srgbClr val="FFFFFF"/>
                </a:solidFill>
                <a:ea typeface="Pretendard Regular"/>
              </a:rPr>
              <a:t>수립</a:t>
            </a:r>
            <a:r>
              <a:rPr lang="en-US" sz="4300" b="1" i="0" u="none" strike="noStrike" spc="-361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4300" b="1" i="0" u="none" strike="noStrike" spc="-361">
                <a:solidFill>
                  <a:srgbClr val="FFFFFF"/>
                </a:solidFill>
                <a:ea typeface="Pretendard Regular"/>
              </a:rPr>
              <a:t>필요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968500" y="1727200"/>
            <a:ext cx="2514600" cy="25146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4876800" y="2082800"/>
            <a:ext cx="14605000" cy="1257300"/>
          </a:xfrm>
          <a:prstGeom prst="rect">
            <a:avLst/>
          </a:prstGeom>
        </p:spPr>
        <p:txBody>
          <a:bodyPr lIns="0" tIns="89745" rIns="0" bIns="89745" anchor="ctr"/>
          <a:lstStyle/>
          <a:p>
            <a:pPr lvl="0" algn="l">
              <a:lnSpc>
                <a:spcPct val="100000"/>
              </a:lnSpc>
              <a:defRPr/>
            </a:pPr>
            <a:r>
              <a:rPr lang="ko-KR" sz="7065" b="0" i="0" u="none" strike="noStrike" spc="-71">
                <a:solidFill>
                  <a:srgbClr val="242424"/>
                </a:solidFill>
                <a:ea typeface="MapoDPP"/>
              </a:rPr>
              <a:t>지역별</a:t>
            </a:r>
            <a:r>
              <a:rPr lang="en-US" sz="7065" b="0" i="0" u="none" strike="noStrike" spc="-71">
                <a:solidFill>
                  <a:srgbClr val="242424"/>
                </a:solidFill>
                <a:latin typeface="MapoDPP"/>
              </a:rPr>
              <a:t> </a:t>
            </a:r>
            <a:r>
              <a:rPr lang="ko-KR" sz="7065" b="0" i="0" u="none" strike="noStrike" spc="-71">
                <a:solidFill>
                  <a:srgbClr val="242424"/>
                </a:solidFill>
                <a:ea typeface="MapoDPP"/>
              </a:rPr>
              <a:t>발전량</a:t>
            </a:r>
            <a:r>
              <a:rPr lang="en-US" sz="7065" b="0" i="0" u="none" strike="noStrike" spc="-71">
                <a:solidFill>
                  <a:srgbClr val="242424"/>
                </a:solidFill>
                <a:latin typeface="MapoDPP"/>
              </a:rPr>
              <a:t> </a:t>
            </a:r>
            <a:r>
              <a:rPr lang="ko-KR" sz="7065" b="0" i="0" u="none" strike="noStrike" spc="-71">
                <a:solidFill>
                  <a:srgbClr val="242424"/>
                </a:solidFill>
                <a:ea typeface="MapoDPP"/>
              </a:rPr>
              <a:t>편차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508000" y="152400"/>
            <a:ext cx="5486400" cy="5486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89000" y="736600"/>
            <a:ext cx="22606000" cy="3695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16200000">
            <a:off x="7073900" y="-3289300"/>
            <a:ext cx="10236200" cy="22606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968500" y="1727200"/>
            <a:ext cx="2514600" cy="2514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4876800" y="2082800"/>
            <a:ext cx="14605000" cy="1257300"/>
          </a:xfrm>
          <a:prstGeom prst="rect">
            <a:avLst/>
          </a:prstGeom>
        </p:spPr>
        <p:txBody>
          <a:bodyPr lIns="0" tIns="89745" rIns="0" bIns="89745" anchor="ctr"/>
          <a:lstStyle/>
          <a:p>
            <a:pPr lvl="0" algn="l">
              <a:lnSpc>
                <a:spcPct val="100000"/>
              </a:lnSpc>
              <a:defRPr/>
            </a:pPr>
            <a:r>
              <a:rPr lang="ko-KR" sz="7065" b="0" i="0" u="none" strike="noStrike" spc="-71">
                <a:solidFill>
                  <a:srgbClr val="242424"/>
                </a:solidFill>
                <a:ea typeface="MapoDPP"/>
              </a:rPr>
              <a:t>월별</a:t>
            </a:r>
            <a:r>
              <a:rPr lang="en-US" sz="7065" b="0" i="0" u="none" strike="noStrike" spc="-71">
                <a:solidFill>
                  <a:srgbClr val="242424"/>
                </a:solidFill>
                <a:latin typeface="MapoDPP"/>
              </a:rPr>
              <a:t>/</a:t>
            </a:r>
            <a:r>
              <a:rPr lang="ko-KR" sz="7065" b="0" i="0" u="none" strike="noStrike" spc="-71">
                <a:solidFill>
                  <a:srgbClr val="242424"/>
                </a:solidFill>
                <a:ea typeface="MapoDPP"/>
              </a:rPr>
              <a:t>계절별</a:t>
            </a:r>
            <a:r>
              <a:rPr lang="en-US" sz="7065" b="0" i="0" u="none" strike="noStrike" spc="-71">
                <a:solidFill>
                  <a:srgbClr val="242424"/>
                </a:solidFill>
                <a:latin typeface="MapoDPP"/>
              </a:rPr>
              <a:t> </a:t>
            </a:r>
            <a:r>
              <a:rPr lang="ko-KR" sz="7065" b="0" i="0" u="none" strike="noStrike" spc="-71">
                <a:solidFill>
                  <a:srgbClr val="242424"/>
                </a:solidFill>
                <a:ea typeface="MapoDPP"/>
              </a:rPr>
              <a:t>발전</a:t>
            </a:r>
            <a:r>
              <a:rPr lang="en-US" sz="7065" b="0" i="0" u="none" strike="noStrike" spc="-71">
                <a:solidFill>
                  <a:srgbClr val="242424"/>
                </a:solidFill>
                <a:latin typeface="MapoDPP"/>
              </a:rPr>
              <a:t> </a:t>
            </a:r>
            <a:r>
              <a:rPr lang="ko-KR" sz="7065" b="0" i="0" u="none" strike="noStrike" spc="-71">
                <a:solidFill>
                  <a:srgbClr val="242424"/>
                </a:solidFill>
                <a:ea typeface="MapoDPP"/>
              </a:rPr>
              <a:t>패턴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828800" y="4749800"/>
            <a:ext cx="7734300" cy="7658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575800" y="4902200"/>
            <a:ext cx="13550900" cy="74422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1671300" y="5715000"/>
            <a:ext cx="10426700" cy="787400"/>
          </a:xfrm>
          <a:prstGeom prst="rect">
            <a:avLst/>
          </a:prstGeom>
        </p:spPr>
        <p:txBody>
          <a:bodyPr anchor="b"/>
          <a:lstStyle/>
          <a:p>
            <a:pPr lvl="0" algn="l">
              <a:lnSpc>
                <a:spcPct val="124000"/>
              </a:lnSpc>
              <a:defRPr/>
            </a:pPr>
            <a:r>
              <a:rPr lang="ko-KR" sz="4400" b="0" i="0" u="none" strike="noStrike" spc="-176">
                <a:solidFill>
                  <a:schemeClr val="dk1"/>
                </a:solidFill>
                <a:ea typeface="MapoDPP"/>
              </a:rPr>
              <a:t>계절에</a:t>
            </a:r>
            <a:r>
              <a:rPr lang="en-US" sz="4400" b="0" i="0" u="none" strike="noStrike" spc="-176">
                <a:solidFill>
                  <a:schemeClr val="dk1"/>
                </a:solidFill>
                <a:latin typeface="MapoDPP"/>
              </a:rPr>
              <a:t> </a:t>
            </a:r>
            <a:r>
              <a:rPr lang="ko-KR" sz="4400" b="0" i="0" u="none" strike="noStrike" spc="-176">
                <a:solidFill>
                  <a:schemeClr val="dk1"/>
                </a:solidFill>
                <a:ea typeface="MapoDPP"/>
              </a:rPr>
              <a:t>따른</a:t>
            </a:r>
            <a:r>
              <a:rPr lang="en-US" sz="4400" b="0" i="0" u="none" strike="noStrike" spc="-176">
                <a:solidFill>
                  <a:schemeClr val="dk1"/>
                </a:solidFill>
                <a:latin typeface="MapoDPP"/>
              </a:rPr>
              <a:t> </a:t>
            </a:r>
            <a:r>
              <a:rPr lang="ko-KR" sz="4400" b="0" i="0" u="none" strike="noStrike" spc="-176">
                <a:solidFill>
                  <a:schemeClr val="dk1"/>
                </a:solidFill>
                <a:ea typeface="MapoDPP"/>
              </a:rPr>
              <a:t>태양광</a:t>
            </a:r>
            <a:r>
              <a:rPr lang="en-US" sz="4400" b="0" i="0" u="none" strike="noStrike" spc="-176">
                <a:solidFill>
                  <a:schemeClr val="dk1"/>
                </a:solidFill>
                <a:latin typeface="MapoDPP"/>
              </a:rPr>
              <a:t> </a:t>
            </a:r>
            <a:r>
              <a:rPr lang="ko-KR" sz="4400" b="0" i="0" u="none" strike="noStrike" spc="-176">
                <a:solidFill>
                  <a:schemeClr val="dk1"/>
                </a:solidFill>
                <a:ea typeface="MapoDPP"/>
              </a:rPr>
              <a:t>발전</a:t>
            </a:r>
            <a:r>
              <a:rPr lang="en-US" sz="4400" b="0" i="0" u="none" strike="noStrike" spc="-176">
                <a:solidFill>
                  <a:schemeClr val="dk1"/>
                </a:solidFill>
                <a:latin typeface="MapoDPP"/>
              </a:rPr>
              <a:t> </a:t>
            </a:r>
            <a:r>
              <a:rPr lang="ko-KR" sz="4400" b="0" i="0" u="none" strike="noStrike" spc="-176">
                <a:solidFill>
                  <a:schemeClr val="dk1"/>
                </a:solidFill>
                <a:ea typeface="MapoDPP"/>
              </a:rPr>
              <a:t>효율</a:t>
            </a:r>
            <a:r>
              <a:rPr lang="en-US" sz="4400" b="0" i="0" u="none" strike="noStrike" spc="-176">
                <a:solidFill>
                  <a:schemeClr val="dk1"/>
                </a:solidFill>
                <a:latin typeface="MapoDPP"/>
              </a:rPr>
              <a:t> </a:t>
            </a:r>
            <a:r>
              <a:rPr lang="ko-KR" sz="4400" b="0" i="0" u="none" strike="noStrike" spc="-176">
                <a:solidFill>
                  <a:schemeClr val="dk1"/>
                </a:solidFill>
                <a:ea typeface="MapoDPP"/>
              </a:rPr>
              <a:t>변화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508000" y="152400"/>
            <a:ext cx="5486400" cy="54864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9601200" y="6858000"/>
            <a:ext cx="13411200" cy="4394200"/>
          </a:xfrm>
          <a:prstGeom prst="rect">
            <a:avLst/>
          </a:prstGeom>
        </p:spPr>
        <p:txBody>
          <a:bodyPr anchor="t"/>
          <a:lstStyle/>
          <a:p>
            <a:pPr lvl="0" algn="ctr">
              <a:lnSpc>
                <a:spcPct val="207000"/>
              </a:lnSpc>
              <a:defRPr/>
            </a:pPr>
            <a:r>
              <a:rPr lang="en-GB" sz="3300" b="1" i="0" u="none" strike="noStrike" spc="-154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en-US" sz="3300" b="1" i="0" u="none" strike="noStrike" spc="-149">
                <a:solidFill>
                  <a:srgbClr val="000000"/>
                </a:solidFill>
                <a:latin typeface="Pretendard Regular"/>
              </a:rPr>
              <a:t>1</a:t>
            </a:r>
            <a:r>
              <a:rPr lang="ko-KR" sz="3300" b="1" i="0" u="none" strike="noStrike" spc="-149">
                <a:solidFill>
                  <a:srgbClr val="000000"/>
                </a:solidFill>
                <a:ea typeface="Pretendard Regular"/>
              </a:rPr>
              <a:t>월</a:t>
            </a:r>
            <a:r>
              <a:rPr lang="en-US" sz="3300" b="1" i="0" u="none" strike="noStrike" spc="-149">
                <a:solidFill>
                  <a:srgbClr val="000000"/>
                </a:solidFill>
                <a:latin typeface="Pretendard Regular"/>
              </a:rPr>
              <a:t>~12</a:t>
            </a:r>
            <a:r>
              <a:rPr lang="ko-KR" sz="3300" b="1" i="0" u="none" strike="noStrike" spc="-149">
                <a:solidFill>
                  <a:srgbClr val="000000"/>
                </a:solidFill>
                <a:ea typeface="Pretendard Regular"/>
              </a:rPr>
              <a:t>월</a:t>
            </a:r>
            <a:r>
              <a:rPr lang="en-US" sz="3300" b="1" i="0" u="none" strike="noStrike" spc="-149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00" b="1" i="0" u="none" strike="noStrike" spc="-149">
                <a:solidFill>
                  <a:srgbClr val="000000"/>
                </a:solidFill>
                <a:ea typeface="Pretendard Regular"/>
              </a:rPr>
              <a:t>월별</a:t>
            </a:r>
            <a:r>
              <a:rPr lang="en-US" sz="3300" b="1" i="0" u="none" strike="noStrike" spc="-149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00" b="1" i="0" u="none" strike="noStrike" spc="-149">
                <a:solidFill>
                  <a:srgbClr val="000000"/>
                </a:solidFill>
                <a:ea typeface="Pretendard Regular"/>
              </a:rPr>
              <a:t>발전량</a:t>
            </a:r>
            <a:r>
              <a:rPr lang="en-US" sz="3300" b="1" i="0" u="none" strike="noStrike" spc="-149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00" b="1" i="0" u="none" strike="noStrike" spc="-149">
                <a:solidFill>
                  <a:srgbClr val="000000"/>
                </a:solidFill>
                <a:ea typeface="Pretendard Regular"/>
              </a:rPr>
              <a:t>분석</a:t>
            </a:r>
            <a:r>
              <a:rPr lang="en-US" sz="3300" b="1" i="0" u="none" strike="noStrike" spc="-149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00" b="1" i="0" u="none" strike="noStrike" spc="-149">
                <a:solidFill>
                  <a:srgbClr val="000000"/>
                </a:solidFill>
                <a:ea typeface="Pretendard Regular"/>
              </a:rPr>
              <a:t>결과</a:t>
            </a:r>
            <a:r>
              <a:rPr lang="en-US" sz="3300" b="1" i="0" u="none" strike="noStrike" spc="-149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300" b="1" i="0" u="none" strike="noStrike" spc="-149">
                <a:solidFill>
                  <a:srgbClr val="000000"/>
                </a:solidFill>
                <a:ea typeface="Pretendard Regular"/>
              </a:rPr>
              <a:t>일조시간이</a:t>
            </a:r>
            <a:r>
              <a:rPr lang="en-US" sz="3300" b="1" i="0" u="none" strike="noStrike" spc="-149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00" b="1" i="0" u="none" strike="noStrike" spc="-149">
                <a:solidFill>
                  <a:srgbClr val="000000"/>
                </a:solidFill>
                <a:ea typeface="Pretendard Regular"/>
              </a:rPr>
              <a:t>긴</a:t>
            </a:r>
            <a:r>
              <a:rPr lang="en-US" sz="3300" b="1" i="0" u="none" strike="noStrike" spc="-149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00" b="1" i="0" u="none" strike="noStrike" spc="-149">
                <a:solidFill>
                  <a:srgbClr val="000000"/>
                </a:solidFill>
                <a:ea typeface="Pretendard Regular"/>
              </a:rPr>
              <a:t>봄</a:t>
            </a:r>
            <a:r>
              <a:rPr lang="en-US" sz="3300" b="1" i="0" u="none" strike="noStrike" spc="-149">
                <a:solidFill>
                  <a:srgbClr val="000000"/>
                </a:solidFill>
                <a:latin typeface="Pretendard Regular"/>
              </a:rPr>
              <a:t>~</a:t>
            </a:r>
            <a:r>
              <a:rPr lang="ko-KR" sz="3300" b="1" i="0" u="none" strike="noStrike" spc="-149">
                <a:solidFill>
                  <a:srgbClr val="000000"/>
                </a:solidFill>
                <a:ea typeface="Pretendard Regular"/>
              </a:rPr>
              <a:t>여름철에</a:t>
            </a:r>
            <a:r>
              <a:rPr lang="en-US" sz="3300" b="1" i="0" u="none" strike="noStrike" spc="-149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00" b="1" i="0" u="none" strike="noStrike" spc="-149">
                <a:solidFill>
                  <a:srgbClr val="000000"/>
                </a:solidFill>
                <a:ea typeface="Pretendard Regular"/>
              </a:rPr>
              <a:t>발전량</a:t>
            </a:r>
            <a:r>
              <a:rPr lang="en-US" sz="3300" b="1" i="0" u="none" strike="noStrike" spc="-149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00" b="1" i="0" u="none" strike="noStrike" spc="-149">
                <a:solidFill>
                  <a:srgbClr val="000000"/>
                </a:solidFill>
                <a:ea typeface="Pretendard Regular"/>
              </a:rPr>
              <a:t>집중</a:t>
            </a:r>
          </a:p>
          <a:p>
            <a:pPr lvl="0" algn="ctr">
              <a:lnSpc>
                <a:spcPct val="207000"/>
              </a:lnSpc>
              <a:defRPr/>
            </a:pPr>
            <a:r>
              <a:rPr lang="en-US" sz="3300" b="1" i="0" u="none" strike="noStrike" spc="-149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3300" b="1" i="0" u="none" strike="noStrike" spc="-149">
                <a:solidFill>
                  <a:srgbClr val="000000"/>
                </a:solidFill>
                <a:ea typeface="Pretendard Regular"/>
              </a:rPr>
              <a:t>일사량이</a:t>
            </a:r>
            <a:r>
              <a:rPr lang="en-US" sz="3300" b="1" i="0" u="none" strike="noStrike" spc="-149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00" b="1" i="0" u="none" strike="noStrike" spc="-149">
                <a:solidFill>
                  <a:srgbClr val="000000"/>
                </a:solidFill>
                <a:ea typeface="Pretendard Regular"/>
              </a:rPr>
              <a:t>가장</a:t>
            </a:r>
            <a:r>
              <a:rPr lang="en-US" sz="3300" b="1" i="0" u="none" strike="noStrike" spc="-149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00" b="1" i="0" u="none" strike="noStrike" spc="-149">
                <a:solidFill>
                  <a:srgbClr val="000000"/>
                </a:solidFill>
                <a:ea typeface="Pretendard Regular"/>
              </a:rPr>
              <a:t>풍부한</a:t>
            </a:r>
            <a:r>
              <a:rPr lang="en-US" sz="3300" b="1" i="0" u="none" strike="noStrike" spc="-149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00" b="1" i="0" u="none" strike="noStrike" spc="-149">
                <a:solidFill>
                  <a:srgbClr val="000000"/>
                </a:solidFill>
                <a:ea typeface="Pretendard Regular"/>
              </a:rPr>
              <a:t>여름철보다</a:t>
            </a:r>
            <a:r>
              <a:rPr lang="en-US" sz="3300" b="1" i="0" u="none" strike="noStrike" spc="-149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00" b="1" i="0" u="none" strike="noStrike" spc="-149">
                <a:solidFill>
                  <a:srgbClr val="000000"/>
                </a:solidFill>
                <a:ea typeface="Pretendard Regular"/>
              </a:rPr>
              <a:t>기온이</a:t>
            </a:r>
            <a:r>
              <a:rPr lang="en-US" sz="3300" b="1" i="0" u="none" strike="noStrike" spc="-149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00" b="1" i="0" u="none" strike="noStrike" spc="-149">
                <a:solidFill>
                  <a:srgbClr val="000000"/>
                </a:solidFill>
                <a:ea typeface="Pretendard Regular"/>
              </a:rPr>
              <a:t>적당한</a:t>
            </a:r>
            <a:r>
              <a:rPr lang="en-US" sz="3300" b="1" i="0" u="none" strike="noStrike" spc="-149">
                <a:solidFill>
                  <a:srgbClr val="000000"/>
                </a:solidFill>
                <a:latin typeface="Pretendard Regular"/>
              </a:rPr>
              <a:t> 5</a:t>
            </a:r>
            <a:r>
              <a:rPr lang="ko-KR" sz="3300" b="1" i="0" u="none" strike="noStrike" spc="-149">
                <a:solidFill>
                  <a:srgbClr val="000000"/>
                </a:solidFill>
                <a:ea typeface="Pretendard Regular"/>
              </a:rPr>
              <a:t>월경</a:t>
            </a:r>
            <a:r>
              <a:rPr lang="en-US" sz="3300" b="1" i="0" u="none" strike="noStrike" spc="-149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00" b="1" i="0" u="none" strike="noStrike" spc="-149">
                <a:solidFill>
                  <a:srgbClr val="000000"/>
                </a:solidFill>
                <a:ea typeface="Pretendard Regular"/>
              </a:rPr>
              <a:t>발전</a:t>
            </a:r>
            <a:r>
              <a:rPr lang="en-US" sz="3300" b="1" i="0" u="none" strike="noStrike" spc="-149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00" b="1" i="0" u="none" strike="noStrike" spc="-149">
                <a:solidFill>
                  <a:srgbClr val="000000"/>
                </a:solidFill>
                <a:ea typeface="Pretendard Regular"/>
              </a:rPr>
              <a:t>효율</a:t>
            </a:r>
            <a:r>
              <a:rPr lang="en-US" sz="3300" b="1" i="0" u="none" strike="noStrike" spc="-149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00" b="1" i="0" u="none" strike="noStrike" spc="-149">
                <a:solidFill>
                  <a:srgbClr val="000000"/>
                </a:solidFill>
                <a:ea typeface="Pretendard Regular"/>
              </a:rPr>
              <a:t>피크</a:t>
            </a:r>
            <a:r>
              <a:rPr lang="en-US" sz="3300" b="1" i="0" u="none" strike="noStrike" spc="-149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00" b="1" i="0" u="none" strike="noStrike" spc="-149">
                <a:solidFill>
                  <a:srgbClr val="000000"/>
                </a:solidFill>
                <a:ea typeface="Pretendard Regular"/>
              </a:rPr>
              <a:t>발생</a:t>
            </a:r>
          </a:p>
          <a:p>
            <a:pPr lvl="0" algn="ctr">
              <a:lnSpc>
                <a:spcPct val="207000"/>
              </a:lnSpc>
              <a:defRPr/>
            </a:pPr>
            <a:r>
              <a:rPr lang="en-US" sz="3300" b="1" i="0" u="none" strike="noStrike" spc="-149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3300" b="1" i="0" u="none" strike="noStrike" spc="-149">
                <a:solidFill>
                  <a:srgbClr val="000000"/>
                </a:solidFill>
                <a:ea typeface="Pretendard Regular"/>
              </a:rPr>
              <a:t>여름철</a:t>
            </a:r>
            <a:r>
              <a:rPr lang="en-US" sz="3300" b="1" i="0" u="none" strike="noStrike" spc="-149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00" b="1" i="0" u="none" strike="noStrike" spc="-149">
                <a:solidFill>
                  <a:srgbClr val="000000"/>
                </a:solidFill>
                <a:ea typeface="Pretendard Regular"/>
              </a:rPr>
              <a:t>고온으로</a:t>
            </a:r>
            <a:r>
              <a:rPr lang="en-US" sz="3300" b="1" i="0" u="none" strike="noStrike" spc="-149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00" b="1" i="0" u="none" strike="noStrike" spc="-149">
                <a:solidFill>
                  <a:srgbClr val="000000"/>
                </a:solidFill>
                <a:ea typeface="Pretendard Regular"/>
              </a:rPr>
              <a:t>인한</a:t>
            </a:r>
            <a:r>
              <a:rPr lang="en-US" sz="3300" b="1" i="0" u="none" strike="noStrike" spc="-149">
                <a:solidFill>
                  <a:srgbClr val="000000"/>
                </a:solidFill>
                <a:latin typeface="Pretendard Regular"/>
              </a:rPr>
              <a:t> '</a:t>
            </a:r>
            <a:r>
              <a:rPr lang="ko-KR" sz="3300" b="1" i="0" u="none" strike="noStrike" spc="-149">
                <a:solidFill>
                  <a:srgbClr val="000000"/>
                </a:solidFill>
                <a:ea typeface="Pretendard Regular"/>
              </a:rPr>
              <a:t>온도계수</a:t>
            </a:r>
            <a:r>
              <a:rPr lang="en-US" sz="3300" b="1" i="0" u="none" strike="noStrike" spc="-149">
                <a:solidFill>
                  <a:srgbClr val="000000"/>
                </a:solidFill>
                <a:latin typeface="Pretendard Regular"/>
              </a:rPr>
              <a:t>' </a:t>
            </a:r>
            <a:r>
              <a:rPr lang="ko-KR" sz="3300" b="1" i="0" u="none" strike="noStrike" spc="-149">
                <a:solidFill>
                  <a:srgbClr val="000000"/>
                </a:solidFill>
                <a:ea typeface="Pretendard Regular"/>
              </a:rPr>
              <a:t>현상으로</a:t>
            </a:r>
            <a:r>
              <a:rPr lang="en-US" sz="3300" b="1" i="0" u="none" strike="noStrike" spc="-149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00" b="1" i="0" u="none" strike="noStrike" spc="-149">
                <a:solidFill>
                  <a:srgbClr val="000000"/>
                </a:solidFill>
                <a:ea typeface="Pretendard Regular"/>
              </a:rPr>
              <a:t>패널</a:t>
            </a:r>
            <a:r>
              <a:rPr lang="en-US" sz="3300" b="1" i="0" u="none" strike="noStrike" spc="-149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00" b="1" i="0" u="none" strike="noStrike" spc="-149">
                <a:solidFill>
                  <a:srgbClr val="000000"/>
                </a:solidFill>
                <a:ea typeface="Pretendard Regular"/>
              </a:rPr>
              <a:t>효율</a:t>
            </a:r>
            <a:r>
              <a:rPr lang="en-US" sz="3300" b="1" i="0" u="none" strike="noStrike" spc="-149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00" b="1" i="0" u="none" strike="noStrike" spc="-149">
                <a:solidFill>
                  <a:srgbClr val="000000"/>
                </a:solidFill>
                <a:ea typeface="Pretendard Regular"/>
              </a:rPr>
              <a:t>저하</a:t>
            </a:r>
            <a:r>
              <a:rPr lang="en-US" sz="3300" b="1" i="0" u="none" strike="noStrike" spc="-149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00" b="1" i="0" u="none" strike="noStrike" spc="-149">
                <a:solidFill>
                  <a:srgbClr val="000000"/>
                </a:solidFill>
                <a:ea typeface="Pretendard Regular"/>
              </a:rPr>
              <a:t>확인</a:t>
            </a:r>
          </a:p>
          <a:p>
            <a:pPr lvl="0" algn="ctr">
              <a:lnSpc>
                <a:spcPct val="207000"/>
              </a:lnSpc>
              <a:defRPr/>
            </a:pPr>
            <a:r>
              <a:rPr lang="en-US" sz="3300" b="1" i="0" u="none" strike="noStrike" spc="-249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3300" b="1" i="0" u="none" strike="noStrike" spc="-249">
                <a:solidFill>
                  <a:srgbClr val="000000"/>
                </a:solidFill>
                <a:ea typeface="Pretendard Regular"/>
              </a:rPr>
              <a:t>계절별</a:t>
            </a:r>
            <a:r>
              <a:rPr lang="en-US" sz="3300" b="1" i="0" u="none" strike="noStrike" spc="-249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00" b="1" i="0" u="none" strike="noStrike" spc="-249">
                <a:solidFill>
                  <a:srgbClr val="000000"/>
                </a:solidFill>
                <a:ea typeface="Pretendard Regular"/>
              </a:rPr>
              <a:t>특성을</a:t>
            </a:r>
            <a:r>
              <a:rPr lang="en-US" sz="3300" b="1" i="0" u="none" strike="noStrike" spc="-249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00" b="1" i="0" u="none" strike="noStrike" spc="-249">
                <a:solidFill>
                  <a:srgbClr val="000000"/>
                </a:solidFill>
                <a:ea typeface="Pretendard Regular"/>
              </a:rPr>
              <a:t>고려한</a:t>
            </a:r>
            <a:r>
              <a:rPr lang="en-US" sz="3300" b="1" i="0" u="none" strike="noStrike" spc="-249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00" b="1" i="0" u="none" strike="noStrike" spc="-249">
                <a:solidFill>
                  <a:srgbClr val="000000"/>
                </a:solidFill>
                <a:ea typeface="Pretendard Regular"/>
              </a:rPr>
              <a:t>발전</a:t>
            </a:r>
            <a:r>
              <a:rPr lang="en-US" sz="3300" b="1" i="0" u="none" strike="noStrike" spc="-249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00" b="1" i="0" u="none" strike="noStrike" spc="-249">
                <a:solidFill>
                  <a:srgbClr val="000000"/>
                </a:solidFill>
                <a:ea typeface="Pretendard Regular"/>
              </a:rPr>
              <a:t>시스템</a:t>
            </a:r>
            <a:r>
              <a:rPr lang="en-US" sz="3300" b="1" i="0" u="none" strike="noStrike" spc="-249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00" b="1" i="0" u="none" strike="noStrike" spc="-249">
                <a:solidFill>
                  <a:srgbClr val="000000"/>
                </a:solidFill>
                <a:ea typeface="Pretendard Regular"/>
              </a:rPr>
              <a:t>최적화</a:t>
            </a:r>
            <a:r>
              <a:rPr lang="en-US" sz="3300" b="1" i="0" u="none" strike="noStrike" spc="-249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00" b="1" i="0" u="none" strike="noStrike" spc="-249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3300" b="1" i="0" u="none" strike="noStrike" spc="-249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00" b="1" i="0" u="none" strike="noStrike" spc="-249">
                <a:solidFill>
                  <a:srgbClr val="000000"/>
                </a:solidFill>
                <a:ea typeface="Pretendard Regular"/>
              </a:rPr>
              <a:t>유지보수</a:t>
            </a:r>
            <a:r>
              <a:rPr lang="en-US" sz="3300" b="1" i="0" u="none" strike="noStrike" spc="-249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00" b="1" i="0" u="none" strike="noStrike" spc="-249">
                <a:solidFill>
                  <a:srgbClr val="000000"/>
                </a:solidFill>
                <a:ea typeface="Pretendard Regular"/>
              </a:rPr>
              <a:t>전략</a:t>
            </a:r>
            <a:r>
              <a:rPr lang="en-US" sz="3300" b="1" i="0" u="none" strike="noStrike" spc="-249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00" b="1" i="0" u="none" strike="noStrike" spc="-249">
                <a:solidFill>
                  <a:srgbClr val="000000"/>
                </a:solidFill>
                <a:ea typeface="Pretendard Regular"/>
              </a:rPr>
              <a:t>필요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89000" y="736600"/>
            <a:ext cx="22606000" cy="3695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16200000">
            <a:off x="7073900" y="-3289300"/>
            <a:ext cx="10236200" cy="22606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159000" y="6832600"/>
            <a:ext cx="4775200" cy="4394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>
            <a:alphaModFix amt="50000"/>
          </a:blip>
          <a:stretch>
            <a:fillRect/>
          </a:stretch>
        </p:blipFill>
        <p:spPr>
          <a:xfrm>
            <a:off x="838200" y="3581400"/>
            <a:ext cx="22631400" cy="9512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336800" y="10121900"/>
            <a:ext cx="774700" cy="11557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7416799" y="6248400"/>
            <a:ext cx="15824200" cy="6832600"/>
          </a:xfrm>
          <a:prstGeom prst="rect">
            <a:avLst/>
          </a:prstGeom>
        </p:spPr>
        <p:txBody>
          <a:bodyPr anchor="t"/>
          <a:lstStyle/>
          <a:p>
            <a:pPr lvl="0" algn="just">
              <a:lnSpc>
                <a:spcPct val="164000"/>
              </a:lnSpc>
              <a:defRPr/>
            </a:pP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태양광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발전의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기본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원리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: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일사량은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발전량을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결정하는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가장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근본적인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요소</a:t>
            </a:r>
          </a:p>
          <a:p>
            <a:pPr lvl="0" algn="just">
              <a:lnSpc>
                <a:spcPct val="164000"/>
              </a:lnSpc>
              <a:defRPr/>
            </a:pP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지역별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일사량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차이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: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남부권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(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전남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,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경북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)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은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연평균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일사량이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수도권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대비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약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 10~15%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높음</a:t>
            </a:r>
          </a:p>
          <a:p>
            <a:pPr lvl="0" algn="just">
              <a:lnSpc>
                <a:spcPct val="164000"/>
              </a:lnSpc>
              <a:defRPr/>
            </a:pP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계절적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변동성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: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봄철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(4~5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월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)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과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가을철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(9~10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월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)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에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일사량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대비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발전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효율이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가장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높게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나타남</a:t>
            </a:r>
          </a:p>
          <a:p>
            <a:pPr lvl="0" algn="just">
              <a:lnSpc>
                <a:spcPct val="164000"/>
              </a:lnSpc>
              <a:defRPr/>
            </a:pP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일사량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측정의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중요성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: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대기권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밖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일사량과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지표면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도달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일사량의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차이가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실제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발전량에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직접적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영향</a:t>
            </a:r>
          </a:p>
          <a:p>
            <a:pPr lvl="0" algn="just">
              <a:lnSpc>
                <a:spcPct val="164000"/>
              </a:lnSpc>
              <a:defRPr/>
            </a:pP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지역별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발전량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예측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: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일사량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데이터를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기반으로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한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지역별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발전량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예측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모델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구축</a:t>
            </a:r>
            <a:r>
              <a:rPr lang="en-US" sz="3000" b="1" i="0" u="none" strike="noStrike" spc="16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3000" b="1" i="0" u="none" strike="noStrike" spc="16">
                <a:solidFill>
                  <a:srgbClr val="242424"/>
                </a:solidFill>
                <a:ea typeface="Pretendard Light"/>
              </a:rPr>
              <a:t>필요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81100" y="4622800"/>
            <a:ext cx="8801100" cy="901700"/>
          </a:xfrm>
          <a:prstGeom prst="rect">
            <a:avLst/>
          </a:prstGeom>
        </p:spPr>
        <p:txBody>
          <a:bodyPr anchor="ctr"/>
          <a:lstStyle/>
          <a:p>
            <a:pPr lvl="0" algn="ctr">
              <a:lnSpc>
                <a:spcPct val="124000"/>
              </a:lnSpc>
              <a:defRPr/>
            </a:pPr>
            <a:r>
              <a:rPr lang="ko-KR" sz="5065" b="0" i="0" u="none" strike="noStrike" spc="-202">
                <a:solidFill>
                  <a:srgbClr val="242424"/>
                </a:solidFill>
                <a:ea typeface="MapoDPP"/>
              </a:rPr>
              <a:t>일사량과</a:t>
            </a:r>
            <a:r>
              <a:rPr lang="en-US" sz="5065" b="0" i="0" u="none" strike="noStrike" spc="-202">
                <a:solidFill>
                  <a:srgbClr val="242424"/>
                </a:solidFill>
                <a:latin typeface="MapoDPP"/>
              </a:rPr>
              <a:t> </a:t>
            </a:r>
            <a:r>
              <a:rPr lang="ko-KR" sz="5065" b="0" i="0" u="none" strike="noStrike" spc="-202">
                <a:solidFill>
                  <a:srgbClr val="242424"/>
                </a:solidFill>
                <a:ea typeface="MapoDPP"/>
              </a:rPr>
              <a:t>발전량의</a:t>
            </a:r>
            <a:r>
              <a:rPr lang="en-US" sz="5065" b="0" i="0" u="none" strike="noStrike" spc="-202">
                <a:solidFill>
                  <a:srgbClr val="242424"/>
                </a:solidFill>
                <a:latin typeface="MapoDPP"/>
              </a:rPr>
              <a:t> </a:t>
            </a:r>
            <a:r>
              <a:rPr lang="ko-KR" sz="5065" b="0" i="0" u="none" strike="noStrike" spc="-202">
                <a:solidFill>
                  <a:srgbClr val="242424"/>
                </a:solidFill>
                <a:ea typeface="MapoDPP"/>
              </a:rPr>
              <a:t>정비례</a:t>
            </a:r>
            <a:r>
              <a:rPr lang="en-US" sz="5065" b="0" i="0" u="none" strike="noStrike" spc="-202">
                <a:solidFill>
                  <a:srgbClr val="242424"/>
                </a:solidFill>
                <a:latin typeface="MapoDPP"/>
              </a:rPr>
              <a:t> </a:t>
            </a:r>
            <a:r>
              <a:rPr lang="ko-KR" sz="5065" b="0" i="0" u="none" strike="noStrike" spc="-202">
                <a:solidFill>
                  <a:srgbClr val="242424"/>
                </a:solidFill>
                <a:ea typeface="MapoDPP"/>
              </a:rPr>
              <a:t>관계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968500" y="1727200"/>
            <a:ext cx="2514600" cy="25146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4876800" y="2082800"/>
            <a:ext cx="14605000" cy="1257300"/>
          </a:xfrm>
          <a:prstGeom prst="rect">
            <a:avLst/>
          </a:prstGeom>
        </p:spPr>
        <p:txBody>
          <a:bodyPr lIns="0" tIns="89745" rIns="0" bIns="89745" anchor="ctr"/>
          <a:lstStyle/>
          <a:p>
            <a:pPr lvl="0" algn="l">
              <a:lnSpc>
                <a:spcPct val="100000"/>
              </a:lnSpc>
              <a:defRPr/>
            </a:pPr>
            <a:r>
              <a:rPr lang="ko-KR" sz="7065" b="0" i="0" u="none" strike="noStrike" spc="-71">
                <a:solidFill>
                  <a:srgbClr val="FFFFFF"/>
                </a:solidFill>
                <a:ea typeface="MapoDPP"/>
              </a:rPr>
              <a:t>기상</a:t>
            </a:r>
            <a:r>
              <a:rPr lang="en-US" sz="7065" b="0" i="0" u="none" strike="noStrike" spc="-71">
                <a:solidFill>
                  <a:srgbClr val="FFFFFF"/>
                </a:solidFill>
                <a:latin typeface="MapoDPP"/>
              </a:rPr>
              <a:t> </a:t>
            </a:r>
            <a:r>
              <a:rPr lang="ko-KR" sz="7065" b="0" i="0" u="none" strike="noStrike" spc="-71">
                <a:solidFill>
                  <a:srgbClr val="FFFFFF"/>
                </a:solidFill>
                <a:ea typeface="MapoDPP"/>
              </a:rPr>
              <a:t>요인과</a:t>
            </a:r>
            <a:r>
              <a:rPr lang="en-US" sz="7065" b="0" i="0" u="none" strike="noStrike" spc="-71">
                <a:solidFill>
                  <a:srgbClr val="FFFFFF"/>
                </a:solidFill>
                <a:latin typeface="MapoDPP"/>
              </a:rPr>
              <a:t> </a:t>
            </a:r>
            <a:r>
              <a:rPr lang="ko-KR" sz="7065" b="0" i="0" u="none" strike="noStrike" spc="-71">
                <a:solidFill>
                  <a:srgbClr val="FFFFFF"/>
                </a:solidFill>
                <a:ea typeface="MapoDPP"/>
              </a:rPr>
              <a:t>발전</a:t>
            </a:r>
            <a:r>
              <a:rPr lang="en-US" sz="7065" b="0" i="0" u="none" strike="noStrike" spc="-71">
                <a:solidFill>
                  <a:srgbClr val="FFFFFF"/>
                </a:solidFill>
                <a:latin typeface="MapoDPP"/>
              </a:rPr>
              <a:t> </a:t>
            </a:r>
            <a:r>
              <a:rPr lang="ko-KR" sz="7065" b="0" i="0" u="none" strike="noStrike" spc="-71">
                <a:solidFill>
                  <a:srgbClr val="FFFFFF"/>
                </a:solidFill>
                <a:ea typeface="MapoDPP"/>
              </a:rPr>
              <a:t>효율의</a:t>
            </a:r>
            <a:r>
              <a:rPr lang="en-US" sz="7065" b="0" i="0" u="none" strike="noStrike" spc="-71">
                <a:solidFill>
                  <a:srgbClr val="FFFFFF"/>
                </a:solidFill>
                <a:latin typeface="MapoDPP"/>
              </a:rPr>
              <a:t> </a:t>
            </a:r>
            <a:r>
              <a:rPr lang="ko-KR" sz="7065" b="0" i="0" u="none" strike="noStrike" spc="-71">
                <a:solidFill>
                  <a:srgbClr val="FFFFFF"/>
                </a:solidFill>
                <a:ea typeface="MapoDPP"/>
              </a:rPr>
              <a:t>상관관계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508000" y="152400"/>
            <a:ext cx="5486400" cy="5486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89000" y="736600"/>
            <a:ext cx="22606000" cy="3695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16200000">
            <a:off x="7073900" y="-3289300"/>
            <a:ext cx="10236200" cy="22606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463800" y="6591300"/>
            <a:ext cx="4775200" cy="4394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>
            <a:alphaModFix amt="50000"/>
          </a:blip>
          <a:stretch>
            <a:fillRect/>
          </a:stretch>
        </p:blipFill>
        <p:spPr>
          <a:xfrm>
            <a:off x="927100" y="3454400"/>
            <a:ext cx="22491700" cy="9512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070100" y="9855200"/>
            <a:ext cx="774700" cy="11557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8013699" y="5486400"/>
            <a:ext cx="15074900" cy="7543800"/>
          </a:xfrm>
          <a:prstGeom prst="rect">
            <a:avLst/>
          </a:prstGeom>
        </p:spPr>
        <p:txBody>
          <a:bodyPr anchor="t"/>
          <a:lstStyle/>
          <a:p>
            <a:pPr lvl="0" algn="just">
              <a:lnSpc>
                <a:spcPct val="141000"/>
              </a:lnSpc>
              <a:defRPr/>
            </a:pP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- '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온도계수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'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현상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: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태양광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모듈은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온도가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상승할수록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발전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효율이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감소하는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특성을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가짐</a:t>
            </a:r>
          </a:p>
          <a:p>
            <a:pPr lvl="0" algn="just">
              <a:lnSpc>
                <a:spcPct val="141000"/>
              </a:lnSpc>
              <a:defRPr/>
            </a:pPr>
            <a:endParaRPr lang="en-GB" sz="2900" b="1" i="0" u="none" strike="noStrike">
              <a:solidFill>
                <a:srgbClr val="242424"/>
              </a:solidFill>
              <a:latin typeface="Pretendard Light"/>
              <a:ea typeface="Pretendard Light"/>
            </a:endParaRPr>
          </a:p>
          <a:p>
            <a:pPr lvl="0" algn="just">
              <a:lnSpc>
                <a:spcPct val="141000"/>
              </a:lnSpc>
              <a:defRPr/>
            </a:pP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임계점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발견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: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데이터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분석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결과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약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25°C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이상에서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효율이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급격히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저하되기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시작</a:t>
            </a:r>
          </a:p>
          <a:p>
            <a:pPr lvl="0" algn="just">
              <a:lnSpc>
                <a:spcPct val="141000"/>
              </a:lnSpc>
              <a:defRPr/>
            </a:pPr>
            <a:endParaRPr lang="en-GB" sz="2900" b="1" i="0" u="none" strike="noStrike">
              <a:solidFill>
                <a:srgbClr val="242424"/>
              </a:solidFill>
              <a:latin typeface="Pretendard Light"/>
              <a:ea typeface="Pretendard Light"/>
            </a:endParaRPr>
          </a:p>
          <a:p>
            <a:pPr lvl="0" algn="just">
              <a:lnSpc>
                <a:spcPct val="141000"/>
              </a:lnSpc>
              <a:defRPr/>
            </a:pP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계절별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비교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: 5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월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(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적정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기온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)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과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8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월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(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폭염기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)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의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발전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효율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차이는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약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10~15%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에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달함</a:t>
            </a:r>
          </a:p>
          <a:p>
            <a:pPr lvl="0" algn="just">
              <a:lnSpc>
                <a:spcPct val="141000"/>
              </a:lnSpc>
              <a:defRPr/>
            </a:pPr>
            <a:endParaRPr lang="en-GB" sz="2900" b="1" i="0" u="none" strike="noStrike">
              <a:solidFill>
                <a:srgbClr val="242424"/>
              </a:solidFill>
              <a:latin typeface="Pretendard Light"/>
              <a:ea typeface="Pretendard Light"/>
            </a:endParaRPr>
          </a:p>
          <a:p>
            <a:pPr lvl="0" algn="just">
              <a:lnSpc>
                <a:spcPct val="141000"/>
              </a:lnSpc>
              <a:defRPr/>
            </a:pP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지역별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영향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: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남부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해안지역은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여름철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고온으로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인한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효율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저하가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내륙지역보다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더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심각</a:t>
            </a:r>
          </a:p>
          <a:p>
            <a:pPr lvl="0" algn="just">
              <a:lnSpc>
                <a:spcPct val="141000"/>
              </a:lnSpc>
              <a:defRPr/>
            </a:pPr>
            <a:endParaRPr lang="en-GB" sz="2900" b="1" i="0" u="none" strike="noStrike">
              <a:solidFill>
                <a:srgbClr val="242424"/>
              </a:solidFill>
              <a:latin typeface="Pretendard Light"/>
              <a:ea typeface="Pretendard Light"/>
            </a:endParaRPr>
          </a:p>
          <a:p>
            <a:pPr lvl="0" algn="just">
              <a:lnSpc>
                <a:spcPct val="141000"/>
              </a:lnSpc>
              <a:defRPr/>
            </a:pP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모듈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종류별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차이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: P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형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모듈보다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N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형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모듈이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온도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상승에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따른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효율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저하가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적음</a:t>
            </a:r>
          </a:p>
          <a:p>
            <a:pPr lvl="0" algn="just">
              <a:lnSpc>
                <a:spcPct val="141000"/>
              </a:lnSpc>
              <a:defRPr/>
            </a:pPr>
            <a:endParaRPr lang="en-GB" sz="2900" b="1" i="0" u="none" strike="noStrike">
              <a:solidFill>
                <a:srgbClr val="242424"/>
              </a:solidFill>
              <a:latin typeface="Pretendard Light"/>
              <a:ea typeface="Pretendard Light"/>
            </a:endParaRPr>
          </a:p>
          <a:p>
            <a:pPr lvl="0" algn="just">
              <a:lnSpc>
                <a:spcPct val="141000"/>
              </a:lnSpc>
              <a:defRPr/>
            </a:pP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대응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전략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필요성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: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여름철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고온기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발전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효율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저하를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최소화하기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위한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냉각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시스템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도입</a:t>
            </a:r>
            <a:r>
              <a:rPr lang="en-US" sz="2935" b="1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1" i="0" u="none" strike="noStrike">
                <a:solidFill>
                  <a:srgbClr val="242424"/>
                </a:solidFill>
                <a:ea typeface="Pretendard Light"/>
              </a:rPr>
              <a:t>검토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52499" y="4267200"/>
            <a:ext cx="8267700" cy="901700"/>
          </a:xfrm>
          <a:prstGeom prst="rect">
            <a:avLst/>
          </a:prstGeom>
        </p:spPr>
        <p:txBody>
          <a:bodyPr anchor="ctr"/>
          <a:lstStyle/>
          <a:p>
            <a:pPr lvl="0" algn="ctr">
              <a:lnSpc>
                <a:spcPct val="124000"/>
              </a:lnSpc>
              <a:defRPr/>
            </a:pPr>
            <a:r>
              <a:rPr lang="ko-KR" sz="5065" b="0" i="0" u="none" strike="noStrike" spc="-202">
                <a:solidFill>
                  <a:srgbClr val="242424"/>
                </a:solidFill>
                <a:ea typeface="MapoDPP"/>
              </a:rPr>
              <a:t>기온의</a:t>
            </a:r>
            <a:r>
              <a:rPr lang="en-US" sz="5065" b="0" i="0" u="none" strike="noStrike" spc="-202">
                <a:solidFill>
                  <a:srgbClr val="242424"/>
                </a:solidFill>
                <a:latin typeface="MapoDPP"/>
              </a:rPr>
              <a:t> </a:t>
            </a:r>
            <a:r>
              <a:rPr lang="ko-KR" sz="5065" b="0" i="0" u="none" strike="noStrike" spc="-202">
                <a:solidFill>
                  <a:srgbClr val="242424"/>
                </a:solidFill>
                <a:ea typeface="MapoDPP"/>
              </a:rPr>
              <a:t>역설</a:t>
            </a:r>
            <a:r>
              <a:rPr lang="en-US" sz="5065" b="0" i="0" u="none" strike="noStrike" spc="-202">
                <a:solidFill>
                  <a:srgbClr val="242424"/>
                </a:solidFill>
                <a:latin typeface="MapoDPP"/>
              </a:rPr>
              <a:t>: </a:t>
            </a:r>
            <a:r>
              <a:rPr lang="ko-KR" sz="5065" b="0" i="0" u="none" strike="noStrike" spc="-202">
                <a:solidFill>
                  <a:srgbClr val="242424"/>
                </a:solidFill>
                <a:ea typeface="MapoDPP"/>
              </a:rPr>
              <a:t>온도계수의</a:t>
            </a:r>
            <a:r>
              <a:rPr lang="en-US" sz="5065" b="0" i="0" u="none" strike="noStrike" spc="-202">
                <a:solidFill>
                  <a:srgbClr val="242424"/>
                </a:solidFill>
                <a:latin typeface="MapoDPP"/>
              </a:rPr>
              <a:t> </a:t>
            </a:r>
            <a:r>
              <a:rPr lang="ko-KR" sz="5065" b="0" i="0" u="none" strike="noStrike" spc="-202">
                <a:solidFill>
                  <a:srgbClr val="242424"/>
                </a:solidFill>
                <a:ea typeface="MapoDPP"/>
              </a:rPr>
              <a:t>실체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968500" y="1727200"/>
            <a:ext cx="2514600" cy="25146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4876800" y="2082800"/>
            <a:ext cx="14605000" cy="1257300"/>
          </a:xfrm>
          <a:prstGeom prst="rect">
            <a:avLst/>
          </a:prstGeom>
        </p:spPr>
        <p:txBody>
          <a:bodyPr lIns="0" tIns="89745" rIns="0" bIns="89745" anchor="ctr"/>
          <a:lstStyle/>
          <a:p>
            <a:pPr lvl="0" algn="l">
              <a:lnSpc>
                <a:spcPct val="100000"/>
              </a:lnSpc>
              <a:defRPr/>
            </a:pPr>
            <a:r>
              <a:rPr lang="ko-KR" sz="7065" b="0" i="0" u="none" strike="noStrike" spc="-71">
                <a:solidFill>
                  <a:srgbClr val="FFFFFF"/>
                </a:solidFill>
                <a:ea typeface="MapoDPP"/>
              </a:rPr>
              <a:t>기상</a:t>
            </a:r>
            <a:r>
              <a:rPr lang="en-US" sz="7065" b="0" i="0" u="none" strike="noStrike" spc="-71">
                <a:solidFill>
                  <a:srgbClr val="FFFFFF"/>
                </a:solidFill>
                <a:latin typeface="MapoDPP"/>
              </a:rPr>
              <a:t> </a:t>
            </a:r>
            <a:r>
              <a:rPr lang="ko-KR" sz="7065" b="0" i="0" u="none" strike="noStrike" spc="-71">
                <a:solidFill>
                  <a:srgbClr val="FFFFFF"/>
                </a:solidFill>
                <a:ea typeface="MapoDPP"/>
              </a:rPr>
              <a:t>요인과</a:t>
            </a:r>
            <a:r>
              <a:rPr lang="en-US" sz="7065" b="0" i="0" u="none" strike="noStrike" spc="-71">
                <a:solidFill>
                  <a:srgbClr val="FFFFFF"/>
                </a:solidFill>
                <a:latin typeface="MapoDPP"/>
              </a:rPr>
              <a:t> </a:t>
            </a:r>
            <a:r>
              <a:rPr lang="ko-KR" sz="7065" b="0" i="0" u="none" strike="noStrike" spc="-71">
                <a:solidFill>
                  <a:srgbClr val="FFFFFF"/>
                </a:solidFill>
                <a:ea typeface="MapoDPP"/>
              </a:rPr>
              <a:t>발전</a:t>
            </a:r>
            <a:r>
              <a:rPr lang="en-US" sz="7065" b="0" i="0" u="none" strike="noStrike" spc="-71">
                <a:solidFill>
                  <a:srgbClr val="FFFFFF"/>
                </a:solidFill>
                <a:latin typeface="MapoDPP"/>
              </a:rPr>
              <a:t> </a:t>
            </a:r>
            <a:r>
              <a:rPr lang="ko-KR" sz="7065" b="0" i="0" u="none" strike="noStrike" spc="-71">
                <a:solidFill>
                  <a:srgbClr val="FFFFFF"/>
                </a:solidFill>
                <a:ea typeface="MapoDPP"/>
              </a:rPr>
              <a:t>효율의</a:t>
            </a:r>
            <a:r>
              <a:rPr lang="en-US" sz="7065" b="0" i="0" u="none" strike="noStrike" spc="-71">
                <a:solidFill>
                  <a:srgbClr val="FFFFFF"/>
                </a:solidFill>
                <a:latin typeface="MapoDPP"/>
              </a:rPr>
              <a:t> </a:t>
            </a:r>
            <a:r>
              <a:rPr lang="ko-KR" sz="7065" b="0" i="0" u="none" strike="noStrike" spc="-71">
                <a:solidFill>
                  <a:srgbClr val="FFFFFF"/>
                </a:solidFill>
                <a:ea typeface="MapoDPP"/>
              </a:rPr>
              <a:t>상관관계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508000" y="152400"/>
            <a:ext cx="5486400" cy="5486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89000" y="736600"/>
            <a:ext cx="22606000" cy="3695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16200000">
            <a:off x="7073900" y="-3289300"/>
            <a:ext cx="10236200" cy="22606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794000" y="4597400"/>
            <a:ext cx="18796000" cy="24384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3289300" y="5435600"/>
            <a:ext cx="5168900" cy="546100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124000"/>
              </a:lnSpc>
              <a:defRPr/>
            </a:pPr>
            <a:r>
              <a:rPr lang="ko-KR" sz="3065" b="0" i="0" u="none" strike="noStrike" spc="-123">
                <a:solidFill>
                  <a:srgbClr val="242424"/>
                </a:solidFill>
                <a:ea typeface="MapoDPP"/>
              </a:rPr>
              <a:t>고온으로</a:t>
            </a:r>
            <a:r>
              <a:rPr lang="en-US" sz="3065" b="0" i="0" u="none" strike="noStrike" spc="-123">
                <a:solidFill>
                  <a:srgbClr val="242424"/>
                </a:solidFill>
                <a:latin typeface="MapoDPP"/>
              </a:rPr>
              <a:t> </a:t>
            </a:r>
            <a:r>
              <a:rPr lang="ko-KR" sz="3065" b="0" i="0" u="none" strike="noStrike" spc="-123">
                <a:solidFill>
                  <a:srgbClr val="242424"/>
                </a:solidFill>
                <a:ea typeface="MapoDPP"/>
              </a:rPr>
              <a:t>인한</a:t>
            </a:r>
            <a:r>
              <a:rPr lang="en-US" sz="3065" b="0" i="0" u="none" strike="noStrike" spc="-123">
                <a:solidFill>
                  <a:srgbClr val="242424"/>
                </a:solidFill>
                <a:latin typeface="MapoDPP"/>
              </a:rPr>
              <a:t> </a:t>
            </a:r>
            <a:r>
              <a:rPr lang="ko-KR" sz="3065" b="0" i="0" u="none" strike="noStrike" spc="-123">
                <a:solidFill>
                  <a:srgbClr val="242424"/>
                </a:solidFill>
                <a:ea typeface="MapoDPP"/>
              </a:rPr>
              <a:t>효율</a:t>
            </a:r>
            <a:r>
              <a:rPr lang="en-US" sz="3065" b="0" i="0" u="none" strike="noStrike" spc="-123">
                <a:solidFill>
                  <a:srgbClr val="242424"/>
                </a:solidFill>
                <a:latin typeface="MapoDPP"/>
              </a:rPr>
              <a:t> </a:t>
            </a:r>
            <a:r>
              <a:rPr lang="ko-KR" sz="3065" b="0" i="0" u="none" strike="noStrike" spc="-123">
                <a:solidFill>
                  <a:srgbClr val="242424"/>
                </a:solidFill>
                <a:ea typeface="MapoDPP"/>
              </a:rPr>
              <a:t>저하</a:t>
            </a:r>
            <a:r>
              <a:rPr lang="en-US" sz="3065" b="0" i="0" u="none" strike="noStrike" spc="-123">
                <a:solidFill>
                  <a:srgbClr val="242424"/>
                </a:solidFill>
                <a:latin typeface="MapoDPP"/>
              </a:rPr>
              <a:t> </a:t>
            </a:r>
            <a:r>
              <a:rPr lang="ko-KR" sz="3065" b="0" i="0" u="none" strike="noStrike" spc="-123">
                <a:solidFill>
                  <a:srgbClr val="242424"/>
                </a:solidFill>
                <a:ea typeface="MapoDPP"/>
              </a:rPr>
              <a:t>현상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45500" y="5003800"/>
            <a:ext cx="12293600" cy="1638300"/>
          </a:xfrm>
          <a:prstGeom prst="rect">
            <a:avLst/>
          </a:prstGeom>
        </p:spPr>
        <p:txBody>
          <a:bodyPr anchor="t"/>
          <a:lstStyle/>
          <a:p>
            <a:pPr lvl="0" algn="just">
              <a:lnSpc>
                <a:spcPct val="124000"/>
              </a:lnSpc>
              <a:defRPr/>
            </a:pP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전남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/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경남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지역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여름철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평균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기온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28~32°C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로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효율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저하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심각</a:t>
            </a:r>
          </a:p>
          <a:p>
            <a:pPr lvl="0" algn="just">
              <a:lnSpc>
                <a:spcPct val="124000"/>
              </a:lnSpc>
              <a:defRPr/>
            </a:pP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온도계수로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인한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발전량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손실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연간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약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8~12%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추정</a:t>
            </a:r>
          </a:p>
          <a:p>
            <a:pPr lvl="0" algn="just">
              <a:lnSpc>
                <a:spcPct val="124000"/>
              </a:lnSpc>
              <a:defRPr/>
            </a:pP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특히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해안가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고습도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환경에서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효율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저하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가속화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794000" y="7353300"/>
            <a:ext cx="18796000" cy="2438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794000" y="10109200"/>
            <a:ext cx="18796000" cy="2438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968500" y="1727200"/>
            <a:ext cx="2514600" cy="25146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4876800" y="2082800"/>
            <a:ext cx="14605000" cy="1257300"/>
          </a:xfrm>
          <a:prstGeom prst="rect">
            <a:avLst/>
          </a:prstGeom>
        </p:spPr>
        <p:txBody>
          <a:bodyPr lIns="0" tIns="89745" rIns="0" bIns="89745" anchor="ctr"/>
          <a:lstStyle/>
          <a:p>
            <a:pPr lvl="0" algn="l">
              <a:lnSpc>
                <a:spcPct val="100000"/>
              </a:lnSpc>
              <a:defRPr/>
            </a:pPr>
            <a:r>
              <a:rPr lang="ko-KR" sz="7065" b="0" i="0" u="none" strike="noStrike" spc="-71">
                <a:solidFill>
                  <a:srgbClr val="FFFFFF"/>
                </a:solidFill>
                <a:ea typeface="MapoDPP"/>
              </a:rPr>
              <a:t>지역별</a:t>
            </a:r>
            <a:r>
              <a:rPr lang="en-US" sz="7065" b="0" i="0" u="none" strike="noStrike" spc="-71">
                <a:solidFill>
                  <a:srgbClr val="FFFFFF"/>
                </a:solidFill>
                <a:latin typeface="MapoDPP"/>
              </a:rPr>
              <a:t> </a:t>
            </a:r>
            <a:r>
              <a:rPr lang="ko-KR" sz="7065" b="0" i="0" u="none" strike="noStrike" spc="-71">
                <a:solidFill>
                  <a:srgbClr val="FFFFFF"/>
                </a:solidFill>
                <a:ea typeface="MapoDPP"/>
              </a:rPr>
              <a:t>특화</a:t>
            </a:r>
            <a:r>
              <a:rPr lang="en-US" sz="7065" b="0" i="0" u="none" strike="noStrike" spc="-71">
                <a:solidFill>
                  <a:srgbClr val="FFFFFF"/>
                </a:solidFill>
                <a:latin typeface="MapoDPP"/>
              </a:rPr>
              <a:t> </a:t>
            </a:r>
            <a:r>
              <a:rPr lang="ko-KR" sz="7065" b="0" i="0" u="none" strike="noStrike" spc="-71">
                <a:solidFill>
                  <a:srgbClr val="FFFFFF"/>
                </a:solidFill>
                <a:ea typeface="MapoDPP"/>
              </a:rPr>
              <a:t>분석</a:t>
            </a:r>
            <a:r>
              <a:rPr lang="en-US" sz="7065" b="0" i="0" u="none" strike="noStrike" spc="-71">
                <a:solidFill>
                  <a:srgbClr val="FFFFFF"/>
                </a:solidFill>
                <a:latin typeface="MapoDPP"/>
              </a:rPr>
              <a:t>: </a:t>
            </a:r>
            <a:r>
              <a:rPr lang="ko-KR" sz="7065" b="0" i="0" u="none" strike="noStrike" spc="-71">
                <a:solidFill>
                  <a:srgbClr val="FFFFFF"/>
                </a:solidFill>
                <a:ea typeface="MapoDPP"/>
              </a:rPr>
              <a:t>남부권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492500" y="8255000"/>
            <a:ext cx="4546600" cy="546100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124000"/>
              </a:lnSpc>
              <a:defRPr/>
            </a:pPr>
            <a:r>
              <a:rPr lang="ko-KR" sz="3065" b="0" i="0" u="none" strike="noStrike" spc="-123">
                <a:solidFill>
                  <a:srgbClr val="242424"/>
                </a:solidFill>
                <a:ea typeface="MapoDPP"/>
              </a:rPr>
              <a:t>수상</a:t>
            </a:r>
            <a:r>
              <a:rPr lang="en-US" sz="3065" b="0" i="0" u="none" strike="noStrike" spc="-123">
                <a:solidFill>
                  <a:srgbClr val="242424"/>
                </a:solidFill>
                <a:latin typeface="MapoDPP"/>
              </a:rPr>
              <a:t> </a:t>
            </a:r>
            <a:r>
              <a:rPr lang="ko-KR" sz="3065" b="0" i="0" u="none" strike="noStrike" spc="-123">
                <a:solidFill>
                  <a:srgbClr val="242424"/>
                </a:solidFill>
                <a:ea typeface="MapoDPP"/>
              </a:rPr>
              <a:t>태양광</a:t>
            </a:r>
            <a:r>
              <a:rPr lang="en-US" sz="3065" b="0" i="0" u="none" strike="noStrike" spc="-123">
                <a:solidFill>
                  <a:srgbClr val="242424"/>
                </a:solidFill>
                <a:latin typeface="MapoDPP"/>
              </a:rPr>
              <a:t> </a:t>
            </a:r>
            <a:r>
              <a:rPr lang="ko-KR" sz="3065" b="0" i="0" u="none" strike="noStrike" spc="-123">
                <a:solidFill>
                  <a:srgbClr val="242424"/>
                </a:solidFill>
                <a:ea typeface="MapoDPP"/>
              </a:rPr>
              <a:t>도입</a:t>
            </a:r>
            <a:r>
              <a:rPr lang="en-US" sz="3065" b="0" i="0" u="none" strike="noStrike" spc="-123">
                <a:solidFill>
                  <a:srgbClr val="242424"/>
                </a:solidFill>
                <a:latin typeface="MapoDPP"/>
              </a:rPr>
              <a:t> </a:t>
            </a:r>
            <a:r>
              <a:rPr lang="ko-KR" sz="3065" b="0" i="0" u="none" strike="noStrike" spc="-123">
                <a:solidFill>
                  <a:srgbClr val="242424"/>
                </a:solidFill>
                <a:ea typeface="MapoDPP"/>
              </a:rPr>
              <a:t>필요성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45500" y="7759700"/>
            <a:ext cx="12293600" cy="1638300"/>
          </a:xfrm>
          <a:prstGeom prst="rect">
            <a:avLst/>
          </a:prstGeom>
        </p:spPr>
        <p:txBody>
          <a:bodyPr anchor="t"/>
          <a:lstStyle/>
          <a:p>
            <a:pPr lvl="0" algn="just">
              <a:lnSpc>
                <a:spcPct val="124000"/>
              </a:lnSpc>
              <a:defRPr/>
            </a:pP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수면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위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설치로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자연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냉각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효과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극대화</a:t>
            </a:r>
          </a:p>
          <a:p>
            <a:pPr lvl="0" algn="just">
              <a:lnSpc>
                <a:spcPct val="124000"/>
              </a:lnSpc>
              <a:defRPr/>
            </a:pP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수상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태양광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설치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시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육상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대비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발전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효율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3~5%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향상</a:t>
            </a:r>
          </a:p>
          <a:p>
            <a:pPr lvl="0" algn="just">
              <a:lnSpc>
                <a:spcPct val="124000"/>
              </a:lnSpc>
              <a:defRPr/>
            </a:pP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농경지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/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산림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훼손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없이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유휴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수면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활용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가능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530600" y="11010900"/>
            <a:ext cx="4546600" cy="546100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124000"/>
              </a:lnSpc>
              <a:defRPr/>
            </a:pPr>
            <a:r>
              <a:rPr lang="ko-KR" sz="3065" b="0" i="0" u="none" strike="noStrike" spc="-123">
                <a:solidFill>
                  <a:srgbClr val="242424"/>
                </a:solidFill>
                <a:ea typeface="MapoDPP"/>
              </a:rPr>
              <a:t>냉각</a:t>
            </a:r>
            <a:r>
              <a:rPr lang="en-US" sz="3065" b="0" i="0" u="none" strike="noStrike" spc="-123">
                <a:solidFill>
                  <a:srgbClr val="242424"/>
                </a:solidFill>
                <a:latin typeface="MapoDPP"/>
              </a:rPr>
              <a:t> </a:t>
            </a:r>
            <a:r>
              <a:rPr lang="ko-KR" sz="3065" b="0" i="0" u="none" strike="noStrike" spc="-123">
                <a:solidFill>
                  <a:srgbClr val="242424"/>
                </a:solidFill>
                <a:ea typeface="MapoDPP"/>
              </a:rPr>
              <a:t>시스템</a:t>
            </a:r>
            <a:r>
              <a:rPr lang="en-US" sz="3065" b="0" i="0" u="none" strike="noStrike" spc="-123">
                <a:solidFill>
                  <a:srgbClr val="242424"/>
                </a:solidFill>
                <a:latin typeface="MapoDPP"/>
              </a:rPr>
              <a:t> </a:t>
            </a:r>
            <a:r>
              <a:rPr lang="ko-KR" sz="3065" b="0" i="0" u="none" strike="noStrike" spc="-123">
                <a:solidFill>
                  <a:srgbClr val="242424"/>
                </a:solidFill>
                <a:ea typeface="MapoDPP"/>
              </a:rPr>
              <a:t>도입</a:t>
            </a:r>
            <a:r>
              <a:rPr lang="en-US" sz="3065" b="0" i="0" u="none" strike="noStrike" spc="-123">
                <a:solidFill>
                  <a:srgbClr val="242424"/>
                </a:solidFill>
                <a:latin typeface="MapoDPP"/>
              </a:rPr>
              <a:t> </a:t>
            </a:r>
            <a:r>
              <a:rPr lang="ko-KR" sz="3065" b="0" i="0" u="none" strike="noStrike" spc="-123">
                <a:solidFill>
                  <a:srgbClr val="242424"/>
                </a:solidFill>
                <a:ea typeface="MapoDPP"/>
              </a:rPr>
              <a:t>방안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45500" y="10515600"/>
            <a:ext cx="12293600" cy="1638300"/>
          </a:xfrm>
          <a:prstGeom prst="rect">
            <a:avLst/>
          </a:prstGeom>
        </p:spPr>
        <p:txBody>
          <a:bodyPr anchor="t"/>
          <a:lstStyle/>
          <a:p>
            <a:pPr lvl="0" algn="just">
              <a:lnSpc>
                <a:spcPct val="124000"/>
              </a:lnSpc>
              <a:defRPr/>
            </a:pP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- '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하이드로겔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'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기반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자가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냉각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시스템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도입</a:t>
            </a:r>
          </a:p>
          <a:p>
            <a:pPr lvl="0" algn="just">
              <a:lnSpc>
                <a:spcPct val="124000"/>
              </a:lnSpc>
              <a:defRPr/>
            </a:pP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공냉식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/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수냉식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하이브리드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냉각장치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설치</a:t>
            </a:r>
          </a:p>
          <a:p>
            <a:pPr lvl="0" algn="just">
              <a:lnSpc>
                <a:spcPct val="124000"/>
              </a:lnSpc>
              <a:defRPr/>
            </a:pP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패널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각도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최적화를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통한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자연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통풍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극대화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508000" y="152400"/>
            <a:ext cx="5486400" cy="5486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28700" y="876300"/>
            <a:ext cx="22606000" cy="3695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16200000">
            <a:off x="7213600" y="-3149600"/>
            <a:ext cx="10236200" cy="22606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108200" y="1866900"/>
            <a:ext cx="2514600" cy="2514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905000" y="8178800"/>
            <a:ext cx="10261600" cy="40894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2413000" y="8305800"/>
            <a:ext cx="9169400" cy="3835400"/>
          </a:xfrm>
          <a:prstGeom prst="rect">
            <a:avLst/>
          </a:prstGeom>
        </p:spPr>
        <p:txBody>
          <a:bodyPr anchor="t"/>
          <a:lstStyle/>
          <a:p>
            <a:pPr lvl="0" algn="just">
              <a:lnSpc>
                <a:spcPct val="163000"/>
              </a:lnSpc>
              <a:defRPr/>
            </a:pPr>
            <a:r>
              <a:rPr lang="en-US" sz="2800" b="0" i="0" u="none" strike="noStrike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800" b="0" i="0" u="none" strike="noStrike">
                <a:solidFill>
                  <a:srgbClr val="242424"/>
                </a:solidFill>
                <a:ea typeface="Pretendard Light"/>
              </a:rPr>
              <a:t>서울</a:t>
            </a:r>
            <a:r>
              <a:rPr lang="en-US" sz="2800" b="0" i="0" u="none" strike="noStrike">
                <a:solidFill>
                  <a:srgbClr val="242424"/>
                </a:solidFill>
                <a:latin typeface="Pretendard Light"/>
              </a:rPr>
              <a:t>/</a:t>
            </a:r>
            <a:r>
              <a:rPr lang="ko-KR" sz="2800" b="0" i="0" u="none" strike="noStrike">
                <a:solidFill>
                  <a:srgbClr val="242424"/>
                </a:solidFill>
                <a:ea typeface="Pretendard Light"/>
              </a:rPr>
              <a:t>경기</a:t>
            </a:r>
            <a:r>
              <a:rPr lang="en-US" sz="2800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>
                <a:solidFill>
                  <a:srgbClr val="242424"/>
                </a:solidFill>
                <a:ea typeface="Pretendard Light"/>
              </a:rPr>
              <a:t>지역</a:t>
            </a:r>
            <a:r>
              <a:rPr lang="en-US" sz="2800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>
                <a:solidFill>
                  <a:srgbClr val="242424"/>
                </a:solidFill>
                <a:ea typeface="Pretendard Light"/>
              </a:rPr>
              <a:t>미세먼지로</a:t>
            </a:r>
            <a:r>
              <a:rPr lang="en-US" sz="2800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>
                <a:solidFill>
                  <a:srgbClr val="242424"/>
                </a:solidFill>
                <a:ea typeface="Pretendard Light"/>
              </a:rPr>
              <a:t>인한</a:t>
            </a:r>
            <a:r>
              <a:rPr lang="en-US" sz="2800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>
                <a:solidFill>
                  <a:srgbClr val="242424"/>
                </a:solidFill>
                <a:ea typeface="Pretendard Light"/>
              </a:rPr>
              <a:t>수광량</a:t>
            </a:r>
            <a:r>
              <a:rPr lang="en-US" sz="2800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>
                <a:solidFill>
                  <a:srgbClr val="242424"/>
                </a:solidFill>
                <a:ea typeface="Pretendard Light"/>
              </a:rPr>
              <a:t>감소</a:t>
            </a:r>
            <a:r>
              <a:rPr lang="en-US" sz="2800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>
                <a:solidFill>
                  <a:srgbClr val="242424"/>
                </a:solidFill>
                <a:ea typeface="Pretendard Light"/>
              </a:rPr>
              <a:t>문제</a:t>
            </a:r>
            <a:r>
              <a:rPr lang="en-US" sz="2800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>
                <a:solidFill>
                  <a:srgbClr val="242424"/>
                </a:solidFill>
                <a:ea typeface="Pretendard Light"/>
              </a:rPr>
              <a:t>심각</a:t>
            </a:r>
          </a:p>
          <a:p>
            <a:pPr lvl="0" algn="just">
              <a:lnSpc>
                <a:spcPct val="163000"/>
              </a:lnSpc>
              <a:defRPr/>
            </a:pPr>
            <a:r>
              <a:rPr lang="en-US" sz="2800" b="0" i="0" u="none" strike="noStrike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800" b="0" i="0" u="none" strike="noStrike">
                <a:solidFill>
                  <a:srgbClr val="242424"/>
                </a:solidFill>
                <a:ea typeface="Pretendard Light"/>
              </a:rPr>
              <a:t>자동</a:t>
            </a:r>
            <a:r>
              <a:rPr lang="en-US" sz="2800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>
                <a:solidFill>
                  <a:srgbClr val="242424"/>
                </a:solidFill>
                <a:ea typeface="Pretendard Light"/>
              </a:rPr>
              <a:t>세척</a:t>
            </a:r>
            <a:r>
              <a:rPr lang="en-US" sz="2800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>
                <a:solidFill>
                  <a:srgbClr val="242424"/>
                </a:solidFill>
                <a:ea typeface="Pretendard Light"/>
              </a:rPr>
              <a:t>시스템</a:t>
            </a:r>
            <a:r>
              <a:rPr lang="en-US" sz="2800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>
                <a:solidFill>
                  <a:srgbClr val="242424"/>
                </a:solidFill>
                <a:ea typeface="Pretendard Light"/>
              </a:rPr>
              <a:t>도입으로</a:t>
            </a:r>
            <a:r>
              <a:rPr lang="en-US" sz="2800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>
                <a:solidFill>
                  <a:srgbClr val="242424"/>
                </a:solidFill>
                <a:ea typeface="Pretendard Light"/>
              </a:rPr>
              <a:t>발전</a:t>
            </a:r>
            <a:r>
              <a:rPr lang="en-US" sz="2800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>
                <a:solidFill>
                  <a:srgbClr val="242424"/>
                </a:solidFill>
                <a:ea typeface="Pretendard Light"/>
              </a:rPr>
              <a:t>효율</a:t>
            </a:r>
            <a:r>
              <a:rPr lang="en-US" sz="2800" b="0" i="0" u="none" strike="noStrike">
                <a:solidFill>
                  <a:srgbClr val="242424"/>
                </a:solidFill>
                <a:latin typeface="Pretendard Light"/>
              </a:rPr>
              <a:t> 5~7% </a:t>
            </a:r>
            <a:r>
              <a:rPr lang="ko-KR" sz="2800" b="0" i="0" u="none" strike="noStrike">
                <a:solidFill>
                  <a:srgbClr val="242424"/>
                </a:solidFill>
                <a:ea typeface="Pretendard Light"/>
              </a:rPr>
              <a:t>향상</a:t>
            </a:r>
            <a:r>
              <a:rPr lang="en-US" sz="2800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>
                <a:solidFill>
                  <a:srgbClr val="242424"/>
                </a:solidFill>
                <a:ea typeface="Pretendard Light"/>
              </a:rPr>
              <a:t>가능</a:t>
            </a:r>
          </a:p>
          <a:p>
            <a:pPr lvl="0" algn="just">
              <a:lnSpc>
                <a:spcPct val="163000"/>
              </a:lnSpc>
              <a:defRPr/>
            </a:pPr>
            <a:r>
              <a:rPr lang="en-US" sz="2800" b="0" i="0" u="none" strike="noStrike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800" b="0" i="0" u="none" strike="noStrike">
                <a:solidFill>
                  <a:srgbClr val="242424"/>
                </a:solidFill>
                <a:ea typeface="Pretendard Light"/>
              </a:rPr>
              <a:t>도심</a:t>
            </a:r>
            <a:r>
              <a:rPr lang="en-US" sz="2800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>
                <a:solidFill>
                  <a:srgbClr val="242424"/>
                </a:solidFill>
                <a:ea typeface="Pretendard Light"/>
              </a:rPr>
              <a:t>건물</a:t>
            </a:r>
            <a:r>
              <a:rPr lang="en-US" sz="2800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>
                <a:solidFill>
                  <a:srgbClr val="242424"/>
                </a:solidFill>
                <a:ea typeface="Pretendard Light"/>
              </a:rPr>
              <a:t>옥상</a:t>
            </a:r>
            <a:r>
              <a:rPr lang="en-US" sz="2800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>
                <a:solidFill>
                  <a:srgbClr val="242424"/>
                </a:solidFill>
                <a:ea typeface="Pretendard Light"/>
              </a:rPr>
              <a:t>설치</a:t>
            </a:r>
            <a:r>
              <a:rPr lang="en-US" sz="2800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>
                <a:solidFill>
                  <a:srgbClr val="242424"/>
                </a:solidFill>
                <a:ea typeface="Pretendard Light"/>
              </a:rPr>
              <a:t>시</a:t>
            </a:r>
            <a:r>
              <a:rPr lang="en-US" sz="2800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>
                <a:solidFill>
                  <a:srgbClr val="242424"/>
                </a:solidFill>
                <a:ea typeface="Pretendard Light"/>
              </a:rPr>
              <a:t>오염물질</a:t>
            </a:r>
            <a:r>
              <a:rPr lang="en-US" sz="2800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>
                <a:solidFill>
                  <a:srgbClr val="242424"/>
                </a:solidFill>
                <a:ea typeface="Pretendard Light"/>
              </a:rPr>
              <a:t>축적</a:t>
            </a:r>
            <a:r>
              <a:rPr lang="en-US" sz="2800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>
                <a:solidFill>
                  <a:srgbClr val="242424"/>
                </a:solidFill>
                <a:ea typeface="Pretendard Light"/>
              </a:rPr>
              <a:t>방지를</a:t>
            </a:r>
            <a:r>
              <a:rPr lang="en-US" sz="2800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>
                <a:solidFill>
                  <a:srgbClr val="242424"/>
                </a:solidFill>
                <a:ea typeface="Pretendard Light"/>
              </a:rPr>
              <a:t>위한</a:t>
            </a:r>
            <a:r>
              <a:rPr lang="en-US" sz="2800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>
                <a:solidFill>
                  <a:srgbClr val="242424"/>
                </a:solidFill>
                <a:ea typeface="Pretendard Light"/>
              </a:rPr>
              <a:t>경사각</a:t>
            </a:r>
            <a:r>
              <a:rPr lang="en-US" sz="2800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>
                <a:solidFill>
                  <a:srgbClr val="242424"/>
                </a:solidFill>
                <a:ea typeface="Pretendard Light"/>
              </a:rPr>
              <a:t>최적화</a:t>
            </a:r>
            <a:r>
              <a:rPr lang="en-US" sz="2800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>
                <a:solidFill>
                  <a:srgbClr val="242424"/>
                </a:solidFill>
                <a:ea typeface="Pretendard Light"/>
              </a:rPr>
              <a:t>필요</a:t>
            </a:r>
          </a:p>
          <a:p>
            <a:pPr lvl="0" algn="just">
              <a:lnSpc>
                <a:spcPct val="163000"/>
              </a:lnSpc>
              <a:defRPr/>
            </a:pPr>
            <a:r>
              <a:rPr lang="en-US" sz="2800" b="0" i="0" u="none" strike="noStrike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800" b="0" i="0" u="none" strike="noStrike">
                <a:solidFill>
                  <a:srgbClr val="242424"/>
                </a:solidFill>
                <a:ea typeface="Pretendard Light"/>
              </a:rPr>
              <a:t>정기적</a:t>
            </a:r>
            <a:r>
              <a:rPr lang="en-US" sz="2800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>
                <a:solidFill>
                  <a:srgbClr val="242424"/>
                </a:solidFill>
                <a:ea typeface="Pretendard Light"/>
              </a:rPr>
              <a:t>세척</a:t>
            </a:r>
            <a:r>
              <a:rPr lang="en-US" sz="2800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>
                <a:solidFill>
                  <a:srgbClr val="242424"/>
                </a:solidFill>
                <a:ea typeface="Pretendard Light"/>
              </a:rPr>
              <a:t>관리를</a:t>
            </a:r>
            <a:r>
              <a:rPr lang="en-US" sz="2800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>
                <a:solidFill>
                  <a:srgbClr val="242424"/>
                </a:solidFill>
                <a:ea typeface="Pretendard Light"/>
              </a:rPr>
              <a:t>통한</a:t>
            </a:r>
            <a:r>
              <a:rPr lang="en-US" sz="2800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>
                <a:solidFill>
                  <a:srgbClr val="242424"/>
                </a:solidFill>
                <a:ea typeface="Pretendard Light"/>
              </a:rPr>
              <a:t>발전량</a:t>
            </a:r>
            <a:r>
              <a:rPr lang="en-US" sz="2800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>
                <a:solidFill>
                  <a:srgbClr val="242424"/>
                </a:solidFill>
                <a:ea typeface="Pretendard Light"/>
              </a:rPr>
              <a:t>안정화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2496800" y="4826000"/>
            <a:ext cx="10261600" cy="40894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3042900" y="5410200"/>
            <a:ext cx="9169400" cy="520700"/>
          </a:xfrm>
          <a:prstGeom prst="rect">
            <a:avLst/>
          </a:prstGeom>
        </p:spPr>
        <p:txBody>
          <a:bodyPr anchor="t"/>
          <a:lstStyle/>
          <a:p>
            <a:pPr lvl="0" algn="just">
              <a:lnSpc>
                <a:spcPct val="133000"/>
              </a:lnSpc>
              <a:defRPr/>
            </a:pP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도심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오염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관리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방안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19400" y="6070600"/>
            <a:ext cx="8445500" cy="787400"/>
          </a:xfrm>
          <a:prstGeom prst="rect">
            <a:avLst/>
          </a:prstGeom>
        </p:spPr>
        <p:txBody>
          <a:bodyPr anchor="ctr"/>
          <a:lstStyle/>
          <a:p>
            <a:pPr lvl="0" algn="ctr">
              <a:lnSpc>
                <a:spcPct val="124000"/>
              </a:lnSpc>
              <a:defRPr/>
            </a:pPr>
            <a:r>
              <a:rPr lang="ko-KR" sz="4400" b="0" i="0" u="none" strike="noStrike" spc="-176">
                <a:solidFill>
                  <a:srgbClr val="FFFFFF"/>
                </a:solidFill>
                <a:ea typeface="MapoDPP"/>
              </a:rPr>
              <a:t>적설</a:t>
            </a:r>
            <a:r>
              <a:rPr lang="en-US" sz="4400" b="0" i="0" u="none" strike="noStrike" spc="-176">
                <a:solidFill>
                  <a:srgbClr val="FFFFFF"/>
                </a:solidFill>
                <a:latin typeface="MapoDPP"/>
              </a:rPr>
              <a:t> </a:t>
            </a:r>
            <a:r>
              <a:rPr lang="ko-KR" sz="4400" b="0" i="0" u="none" strike="noStrike" spc="-176">
                <a:solidFill>
                  <a:srgbClr val="FFFFFF"/>
                </a:solidFill>
                <a:ea typeface="MapoDPP"/>
              </a:rPr>
              <a:t>대비</a:t>
            </a:r>
            <a:r>
              <a:rPr lang="en-US" sz="4400" b="0" i="0" u="none" strike="noStrike" spc="-176">
                <a:solidFill>
                  <a:srgbClr val="FFFFFF"/>
                </a:solidFill>
                <a:latin typeface="MapoDPP"/>
              </a:rPr>
              <a:t> </a:t>
            </a:r>
            <a:r>
              <a:rPr lang="ko-KR" sz="4400" b="0" i="0" u="none" strike="noStrike" spc="-176">
                <a:solidFill>
                  <a:srgbClr val="FFFFFF"/>
                </a:solidFill>
                <a:ea typeface="MapoDPP"/>
              </a:rPr>
              <a:t>전략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9202400" y="1308100"/>
            <a:ext cx="3479800" cy="3175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8427700" y="1282700"/>
            <a:ext cx="774700" cy="1155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 rot="16800000">
            <a:off x="22910800" y="2997200"/>
            <a:ext cx="254000" cy="254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 rot="16800000">
            <a:off x="22948900" y="2374900"/>
            <a:ext cx="330200" cy="317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 rot="16800000">
            <a:off x="18834100" y="2298700"/>
            <a:ext cx="127000" cy="1270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4876800" y="2082800"/>
            <a:ext cx="13639800" cy="1257300"/>
          </a:xfrm>
          <a:prstGeom prst="rect">
            <a:avLst/>
          </a:prstGeom>
        </p:spPr>
        <p:txBody>
          <a:bodyPr lIns="0" tIns="89745" rIns="0" bIns="89745" anchor="ctr"/>
          <a:lstStyle/>
          <a:p>
            <a:pPr lvl="0" algn="l">
              <a:lnSpc>
                <a:spcPct val="100000"/>
              </a:lnSpc>
              <a:defRPr/>
            </a:pPr>
            <a:r>
              <a:rPr lang="ko-KR" sz="7065" b="0" i="0" u="none" strike="noStrike" spc="-71">
                <a:solidFill>
                  <a:srgbClr val="242424"/>
                </a:solidFill>
                <a:ea typeface="MapoDPP"/>
              </a:rPr>
              <a:t>지역별</a:t>
            </a:r>
            <a:r>
              <a:rPr lang="en-US" sz="7065" b="0" i="0" u="none" strike="noStrike" spc="-71">
                <a:solidFill>
                  <a:srgbClr val="242424"/>
                </a:solidFill>
                <a:latin typeface="MapoDPP"/>
              </a:rPr>
              <a:t> </a:t>
            </a:r>
            <a:r>
              <a:rPr lang="ko-KR" sz="7065" b="0" i="0" u="none" strike="noStrike" spc="-71">
                <a:solidFill>
                  <a:srgbClr val="242424"/>
                </a:solidFill>
                <a:ea typeface="MapoDPP"/>
              </a:rPr>
              <a:t>특화</a:t>
            </a:r>
            <a:r>
              <a:rPr lang="en-US" sz="7065" b="0" i="0" u="none" strike="noStrike" spc="-71">
                <a:solidFill>
                  <a:srgbClr val="242424"/>
                </a:solidFill>
                <a:latin typeface="MapoDPP"/>
              </a:rPr>
              <a:t> </a:t>
            </a:r>
            <a:r>
              <a:rPr lang="ko-KR" sz="7065" b="0" i="0" u="none" strike="noStrike" spc="-71">
                <a:solidFill>
                  <a:srgbClr val="242424"/>
                </a:solidFill>
                <a:ea typeface="MapoDPP"/>
              </a:rPr>
              <a:t>분석</a:t>
            </a:r>
            <a:r>
              <a:rPr lang="en-US" sz="7065" b="0" i="0" u="none" strike="noStrike" spc="-71">
                <a:solidFill>
                  <a:srgbClr val="242424"/>
                </a:solidFill>
                <a:latin typeface="MapoDPP"/>
              </a:rPr>
              <a:t>: </a:t>
            </a:r>
            <a:r>
              <a:rPr lang="ko-KR" sz="7065" b="0" i="0" u="none" strike="noStrike" spc="-71">
                <a:solidFill>
                  <a:srgbClr val="242424"/>
                </a:solidFill>
                <a:ea typeface="MapoDPP"/>
              </a:rPr>
              <a:t>수도권</a:t>
            </a:r>
            <a:r>
              <a:rPr lang="en-US" sz="7065" b="0" i="0" u="none" strike="noStrike" spc="-71">
                <a:solidFill>
                  <a:srgbClr val="242424"/>
                </a:solidFill>
                <a:latin typeface="MapoDPP"/>
              </a:rPr>
              <a:t>/</a:t>
            </a:r>
            <a:r>
              <a:rPr lang="ko-KR" sz="7065" b="0" i="0" u="none" strike="noStrike" spc="-71">
                <a:solidFill>
                  <a:srgbClr val="242424"/>
                </a:solidFill>
                <a:ea typeface="MapoDPP"/>
              </a:rPr>
              <a:t>중부권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411200" y="9829800"/>
            <a:ext cx="8445500" cy="787400"/>
          </a:xfrm>
          <a:prstGeom prst="rect">
            <a:avLst/>
          </a:prstGeom>
        </p:spPr>
        <p:txBody>
          <a:bodyPr anchor="ctr"/>
          <a:lstStyle/>
          <a:p>
            <a:pPr lvl="0" algn="ctr">
              <a:lnSpc>
                <a:spcPct val="124000"/>
              </a:lnSpc>
              <a:defRPr/>
            </a:pPr>
            <a:r>
              <a:rPr lang="ko-KR" sz="4400" b="0" i="0" u="none" strike="noStrike" spc="-176">
                <a:solidFill>
                  <a:srgbClr val="FFFFFF"/>
                </a:solidFill>
                <a:ea typeface="MapoDPP"/>
              </a:rPr>
              <a:t>유지보수</a:t>
            </a:r>
            <a:r>
              <a:rPr lang="en-US" sz="4400" b="0" i="0" u="none" strike="noStrike" spc="-176">
                <a:solidFill>
                  <a:srgbClr val="FFFFFF"/>
                </a:solidFill>
                <a:latin typeface="MapoDPP"/>
              </a:rPr>
              <a:t> </a:t>
            </a:r>
            <a:r>
              <a:rPr lang="ko-KR" sz="4400" b="0" i="0" u="none" strike="noStrike" spc="-176">
                <a:solidFill>
                  <a:srgbClr val="FFFFFF"/>
                </a:solidFill>
                <a:ea typeface="MapoDPP"/>
              </a:rPr>
              <a:t>최적화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673100" y="317500"/>
            <a:ext cx="5486400" cy="5486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89000" y="736600"/>
            <a:ext cx="22606000" cy="3695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16200000">
            <a:off x="7073900" y="-3289300"/>
            <a:ext cx="10236200" cy="22606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968500" y="1727200"/>
            <a:ext cx="2514600" cy="2514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4876800" y="2082800"/>
            <a:ext cx="14605000" cy="1257300"/>
          </a:xfrm>
          <a:prstGeom prst="rect">
            <a:avLst/>
          </a:prstGeom>
        </p:spPr>
        <p:txBody>
          <a:bodyPr lIns="0" tIns="89745" rIns="0" bIns="89745" anchor="ctr"/>
          <a:lstStyle/>
          <a:p>
            <a:pPr lvl="0" algn="l">
              <a:lnSpc>
                <a:spcPct val="100000"/>
              </a:lnSpc>
              <a:defRPr/>
            </a:pPr>
            <a:r>
              <a:rPr lang="ko-KR" sz="7065" b="0" i="0" u="none" strike="noStrike" spc="-71">
                <a:solidFill>
                  <a:srgbClr val="FFFFFF"/>
                </a:solidFill>
                <a:ea typeface="MapoDPP"/>
              </a:rPr>
              <a:t>분석</a:t>
            </a:r>
            <a:r>
              <a:rPr lang="en-US" sz="7065" b="0" i="0" u="none" strike="noStrike" spc="-71">
                <a:solidFill>
                  <a:srgbClr val="FFFFFF"/>
                </a:solidFill>
                <a:latin typeface="MapoDPP"/>
              </a:rPr>
              <a:t> </a:t>
            </a:r>
            <a:r>
              <a:rPr lang="ko-KR" sz="7065" b="0" i="0" u="none" strike="noStrike" spc="-71">
                <a:solidFill>
                  <a:srgbClr val="FFFFFF"/>
                </a:solidFill>
                <a:ea typeface="MapoDPP"/>
              </a:rPr>
              <a:t>결과</a:t>
            </a:r>
            <a:r>
              <a:rPr lang="en-US" sz="7065" b="0" i="0" u="none" strike="noStrike" spc="-71">
                <a:solidFill>
                  <a:srgbClr val="FFFFFF"/>
                </a:solidFill>
                <a:latin typeface="MapoDPP"/>
              </a:rPr>
              <a:t> </a:t>
            </a:r>
            <a:r>
              <a:rPr lang="ko-KR" sz="7065" b="0" i="0" u="none" strike="noStrike" spc="-71">
                <a:solidFill>
                  <a:srgbClr val="FFFFFF"/>
                </a:solidFill>
                <a:ea typeface="MapoDPP"/>
              </a:rPr>
              <a:t>요약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727200" y="4813300"/>
            <a:ext cx="4787900" cy="8089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644900" y="5270500"/>
            <a:ext cx="952500" cy="9525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489200" y="6286500"/>
            <a:ext cx="3403600" cy="546100"/>
          </a:xfrm>
          <a:prstGeom prst="rect">
            <a:avLst/>
          </a:prstGeom>
        </p:spPr>
        <p:txBody>
          <a:bodyPr anchor="b"/>
          <a:lstStyle/>
          <a:p>
            <a:pPr lvl="0" algn="ctr">
              <a:lnSpc>
                <a:spcPct val="124000"/>
              </a:lnSpc>
              <a:defRPr/>
            </a:pPr>
            <a:r>
              <a:rPr lang="ko-KR" sz="3065" b="0" i="0" u="none" strike="noStrike" spc="-92">
                <a:solidFill>
                  <a:srgbClr val="242424"/>
                </a:solidFill>
                <a:ea typeface="MapoDPP"/>
              </a:rPr>
              <a:t>양적</a:t>
            </a:r>
            <a:r>
              <a:rPr lang="en-US" sz="3065" b="0" i="0" u="none" strike="noStrike" spc="-92">
                <a:solidFill>
                  <a:srgbClr val="242424"/>
                </a:solidFill>
                <a:latin typeface="MapoDPP"/>
              </a:rPr>
              <a:t> </a:t>
            </a:r>
            <a:r>
              <a:rPr lang="ko-KR" sz="3065" b="0" i="0" u="none" strike="noStrike" spc="-92">
                <a:solidFill>
                  <a:srgbClr val="242424"/>
                </a:solidFill>
                <a:ea typeface="MapoDPP"/>
              </a:rPr>
              <a:t>성장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52600" y="6858000"/>
            <a:ext cx="4724400" cy="3873500"/>
          </a:xfrm>
          <a:prstGeom prst="rect">
            <a:avLst/>
          </a:prstGeom>
        </p:spPr>
        <p:txBody>
          <a:bodyPr anchor="t"/>
          <a:lstStyle/>
          <a:p>
            <a:pPr lvl="0" algn="ctr">
              <a:lnSpc>
                <a:spcPct val="144000"/>
              </a:lnSpc>
              <a:defRPr/>
            </a:pP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-</a:t>
            </a:r>
            <a:r>
              <a:rPr lang="en-US" sz="2935" b="0" i="0" u="none" strike="noStrike" spc="-100">
                <a:solidFill>
                  <a:srgbClr val="242424"/>
                </a:solidFill>
                <a:latin typeface="Pretendard Light"/>
              </a:rPr>
              <a:t> 20</a:t>
            </a: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21~2024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년</a:t>
            </a: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설비용량</a:t>
            </a: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 </a:t>
            </a:r>
          </a:p>
          <a:p>
            <a:pPr lvl="0" algn="ctr">
              <a:lnSpc>
                <a:spcPct val="144000"/>
              </a:lnSpc>
              <a:defRPr/>
            </a:pP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급증</a:t>
            </a:r>
          </a:p>
          <a:p>
            <a:pPr lvl="0" algn="ctr">
              <a:lnSpc>
                <a:spcPct val="144000"/>
              </a:lnSpc>
              <a:defRPr/>
            </a:pP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전국적</a:t>
            </a: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태양광</a:t>
            </a: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인프라</a:t>
            </a: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확대</a:t>
            </a:r>
          </a:p>
          <a:p>
            <a:pPr lvl="0" algn="ctr">
              <a:lnSpc>
                <a:spcPct val="144000"/>
              </a:lnSpc>
              <a:defRPr/>
            </a:pP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획일적</a:t>
            </a: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보급으로</a:t>
            </a: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지역</a:t>
            </a: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특성</a:t>
            </a: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 </a:t>
            </a:r>
          </a:p>
          <a:p>
            <a:pPr lvl="0" algn="ctr">
              <a:lnSpc>
                <a:spcPct val="144000"/>
              </a:lnSpc>
              <a:defRPr/>
            </a:pP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  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미반영</a:t>
            </a:r>
          </a:p>
          <a:p>
            <a:pPr lvl="0" algn="ctr">
              <a:lnSpc>
                <a:spcPct val="144000"/>
              </a:lnSpc>
              <a:defRPr/>
            </a:pP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양적</a:t>
            </a: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성장에</a:t>
            </a: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치중한</a:t>
            </a: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정책의</a:t>
            </a:r>
          </a:p>
          <a:p>
            <a:pPr lvl="0" algn="ctr">
              <a:lnSpc>
                <a:spcPct val="144000"/>
              </a:lnSpc>
              <a:defRPr/>
            </a:pP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  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한계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7868900" y="4813300"/>
            <a:ext cx="4787900" cy="8013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8542000" y="6311900"/>
            <a:ext cx="3403600" cy="546100"/>
          </a:xfrm>
          <a:prstGeom prst="rect">
            <a:avLst/>
          </a:prstGeom>
        </p:spPr>
        <p:txBody>
          <a:bodyPr anchor="b"/>
          <a:lstStyle/>
          <a:p>
            <a:pPr lvl="0" algn="ctr">
              <a:lnSpc>
                <a:spcPct val="124000"/>
              </a:lnSpc>
              <a:defRPr/>
            </a:pPr>
            <a:r>
              <a:rPr lang="ko-KR" sz="3065" b="0" i="0" u="none" strike="noStrike" spc="-92">
                <a:solidFill>
                  <a:srgbClr val="242424"/>
                </a:solidFill>
                <a:ea typeface="MapoDPP"/>
              </a:rPr>
              <a:t>데이터</a:t>
            </a:r>
            <a:r>
              <a:rPr lang="en-US" sz="3065" b="0" i="0" u="none" strike="noStrike" spc="-92">
                <a:solidFill>
                  <a:srgbClr val="242424"/>
                </a:solidFill>
                <a:latin typeface="MapoDPP"/>
              </a:rPr>
              <a:t> </a:t>
            </a:r>
            <a:r>
              <a:rPr lang="ko-KR" sz="3065" b="0" i="0" u="none" strike="noStrike" spc="-92">
                <a:solidFill>
                  <a:srgbClr val="242424"/>
                </a:solidFill>
                <a:ea typeface="MapoDPP"/>
              </a:rPr>
              <a:t>관리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983200" y="6858000"/>
            <a:ext cx="4648200" cy="3873500"/>
          </a:xfrm>
          <a:prstGeom prst="rect">
            <a:avLst/>
          </a:prstGeom>
        </p:spPr>
        <p:txBody>
          <a:bodyPr anchor="t"/>
          <a:lstStyle/>
          <a:p>
            <a:pPr lvl="0" algn="ctr">
              <a:lnSpc>
                <a:spcPct val="144000"/>
              </a:lnSpc>
              <a:defRPr/>
            </a:pP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-</a:t>
            </a:r>
            <a:r>
              <a:rPr lang="en-US" sz="2800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기상</a:t>
            </a: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데이터와</a:t>
            </a: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발전량</a:t>
            </a: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연계</a:t>
            </a:r>
          </a:p>
          <a:p>
            <a:pPr lvl="0" algn="ctr">
              <a:lnSpc>
                <a:spcPct val="144000"/>
              </a:lnSpc>
              <a:defRPr/>
            </a:pP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  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분석</a:t>
            </a: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필요</a:t>
            </a:r>
          </a:p>
          <a:p>
            <a:pPr lvl="0" algn="ctr">
              <a:lnSpc>
                <a:spcPct val="144000"/>
              </a:lnSpc>
              <a:defRPr/>
            </a:pP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지역별</a:t>
            </a: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맞춤형</a:t>
            </a: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운영</a:t>
            </a: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전략</a:t>
            </a:r>
          </a:p>
          <a:p>
            <a:pPr lvl="0" algn="ctr">
              <a:lnSpc>
                <a:spcPct val="144000"/>
              </a:lnSpc>
              <a:defRPr/>
            </a:pP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  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수립</a:t>
            </a:r>
          </a:p>
          <a:p>
            <a:pPr lvl="0" algn="ctr">
              <a:lnSpc>
                <a:spcPct val="144000"/>
              </a:lnSpc>
              <a:defRPr/>
            </a:pP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실시간</a:t>
            </a: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모니터링</a:t>
            </a: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시스템</a:t>
            </a:r>
          </a:p>
          <a:p>
            <a:pPr lvl="0" algn="ctr">
              <a:lnSpc>
                <a:spcPct val="144000"/>
              </a:lnSpc>
              <a:defRPr/>
            </a:pP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  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구축</a:t>
            </a:r>
          </a:p>
          <a:p>
            <a:pPr lvl="0" algn="ctr">
              <a:lnSpc>
                <a:spcPct val="144000"/>
              </a:lnSpc>
              <a:defRPr/>
            </a:pP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예측</a:t>
            </a: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모델</a:t>
            </a: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고도화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2484100" y="4826000"/>
            <a:ext cx="4787900" cy="79502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3131800" y="6311900"/>
            <a:ext cx="3403600" cy="546100"/>
          </a:xfrm>
          <a:prstGeom prst="rect">
            <a:avLst/>
          </a:prstGeom>
        </p:spPr>
        <p:txBody>
          <a:bodyPr anchor="b"/>
          <a:lstStyle/>
          <a:p>
            <a:pPr lvl="0" algn="ctr">
              <a:lnSpc>
                <a:spcPct val="124000"/>
              </a:lnSpc>
              <a:defRPr/>
            </a:pPr>
            <a:r>
              <a:rPr lang="ko-KR" sz="3065" b="0" i="0" u="none" strike="noStrike" spc="-92">
                <a:solidFill>
                  <a:srgbClr val="242424"/>
                </a:solidFill>
                <a:ea typeface="MapoDPP"/>
              </a:rPr>
              <a:t>지역별</a:t>
            </a:r>
            <a:r>
              <a:rPr lang="en-US" sz="3065" b="0" i="0" u="none" strike="noStrike" spc="-92">
                <a:solidFill>
                  <a:srgbClr val="242424"/>
                </a:solidFill>
                <a:latin typeface="MapoDPP"/>
              </a:rPr>
              <a:t> </a:t>
            </a:r>
            <a:r>
              <a:rPr lang="ko-KR" sz="3065" b="0" i="0" u="none" strike="noStrike" spc="-92">
                <a:solidFill>
                  <a:srgbClr val="242424"/>
                </a:solidFill>
                <a:ea typeface="MapoDPP"/>
              </a:rPr>
              <a:t>편차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573000" y="6858000"/>
            <a:ext cx="4648200" cy="3314700"/>
          </a:xfrm>
          <a:prstGeom prst="rect">
            <a:avLst/>
          </a:prstGeom>
        </p:spPr>
        <p:txBody>
          <a:bodyPr anchor="t"/>
          <a:lstStyle/>
          <a:p>
            <a:pPr lvl="0" algn="ctr">
              <a:lnSpc>
                <a:spcPct val="164000"/>
              </a:lnSpc>
              <a:defRPr/>
            </a:pPr>
            <a:r>
              <a:rPr lang="en-US" sz="2800" b="0" i="0" u="none" strike="noStrike">
                <a:solidFill>
                  <a:srgbClr val="242424"/>
                </a:solidFill>
                <a:latin typeface="Pretendard Light"/>
              </a:rPr>
              <a:t>-</a:t>
            </a: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남부권</a:t>
            </a: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: 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고온으로</a:t>
            </a: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인한</a:t>
            </a: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효율</a:t>
            </a:r>
          </a:p>
          <a:p>
            <a:pPr lvl="0" algn="ctr">
              <a:lnSpc>
                <a:spcPct val="164000"/>
              </a:lnSpc>
              <a:defRPr/>
            </a:pP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  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저하</a:t>
            </a:r>
          </a:p>
          <a:p>
            <a:pPr lvl="0" algn="ctr">
              <a:lnSpc>
                <a:spcPct val="164000"/>
              </a:lnSpc>
              <a:defRPr/>
            </a:pP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도심권</a:t>
            </a: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: 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오염물질로</a:t>
            </a: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인한</a:t>
            </a:r>
          </a:p>
          <a:p>
            <a:pPr lvl="0" algn="ctr">
              <a:lnSpc>
                <a:spcPct val="164000"/>
              </a:lnSpc>
              <a:defRPr/>
            </a:pP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  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수광량</a:t>
            </a: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감소</a:t>
            </a:r>
          </a:p>
          <a:p>
            <a:pPr lvl="0" algn="ctr">
              <a:lnSpc>
                <a:spcPct val="164000"/>
              </a:lnSpc>
              <a:defRPr/>
            </a:pP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산간지역</a:t>
            </a: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: 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적설로</a:t>
            </a: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인한</a:t>
            </a: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발전</a:t>
            </a:r>
          </a:p>
          <a:p>
            <a:pPr lvl="0" algn="ctr">
              <a:lnSpc>
                <a:spcPct val="164000"/>
              </a:lnSpc>
              <a:defRPr/>
            </a:pPr>
            <a:r>
              <a:rPr lang="en-US" sz="2800" b="0" i="0" u="none" strike="noStrike" spc="-100">
                <a:solidFill>
                  <a:srgbClr val="242424"/>
                </a:solidFill>
                <a:latin typeface="Pretendard Light"/>
              </a:rPr>
              <a:t>  </a:t>
            </a:r>
            <a:r>
              <a:rPr lang="ko-KR" sz="2800" b="0" i="0" u="none" strike="noStrike" spc="-100">
                <a:solidFill>
                  <a:srgbClr val="242424"/>
                </a:solidFill>
                <a:ea typeface="Pretendard Light"/>
              </a:rPr>
              <a:t>중단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7112000" y="4826000"/>
            <a:ext cx="4787900" cy="79883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7874000" y="6311900"/>
            <a:ext cx="3403600" cy="546100"/>
          </a:xfrm>
          <a:prstGeom prst="rect">
            <a:avLst/>
          </a:prstGeom>
        </p:spPr>
        <p:txBody>
          <a:bodyPr anchor="b"/>
          <a:lstStyle/>
          <a:p>
            <a:pPr lvl="0" algn="ctr">
              <a:lnSpc>
                <a:spcPct val="124000"/>
              </a:lnSpc>
              <a:defRPr/>
            </a:pPr>
            <a:r>
              <a:rPr lang="ko-KR" sz="3065" b="0" i="0" u="none" strike="noStrike" spc="-92">
                <a:solidFill>
                  <a:srgbClr val="242424"/>
                </a:solidFill>
                <a:ea typeface="MapoDPP"/>
              </a:rPr>
              <a:t>효율</a:t>
            </a:r>
            <a:r>
              <a:rPr lang="en-US" sz="3065" b="0" i="0" u="none" strike="noStrike" spc="-92">
                <a:solidFill>
                  <a:srgbClr val="242424"/>
                </a:solidFill>
                <a:latin typeface="MapoDPP"/>
              </a:rPr>
              <a:t> </a:t>
            </a:r>
            <a:r>
              <a:rPr lang="ko-KR" sz="3065" b="0" i="0" u="none" strike="noStrike" spc="-92">
                <a:solidFill>
                  <a:srgbClr val="242424"/>
                </a:solidFill>
                <a:ea typeface="MapoDPP"/>
              </a:rPr>
              <a:t>임계점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162800" y="6858000"/>
            <a:ext cx="4724400" cy="2755900"/>
          </a:xfrm>
          <a:prstGeom prst="rect">
            <a:avLst/>
          </a:prstGeom>
        </p:spPr>
        <p:txBody>
          <a:bodyPr anchor="t"/>
          <a:lstStyle/>
          <a:p>
            <a:pPr lvl="0" algn="ctr">
              <a:lnSpc>
                <a:spcPct val="214000"/>
              </a:lnSpc>
              <a:defRPr/>
            </a:pP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- 25°C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이상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시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효율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급감</a:t>
            </a:r>
          </a:p>
          <a:p>
            <a:pPr lvl="0" algn="ctr">
              <a:lnSpc>
                <a:spcPct val="214000"/>
              </a:lnSpc>
              <a:defRPr/>
            </a:pP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봄철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(5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월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)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발전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효율이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</a:p>
          <a:p>
            <a:pPr lvl="0" algn="ctr">
              <a:lnSpc>
                <a:spcPct val="214000"/>
              </a:lnSpc>
              <a:defRPr/>
            </a:pP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여름철보다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10~15%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우수</a:t>
            </a:r>
          </a:p>
          <a:p>
            <a:pPr lvl="0" algn="ctr">
              <a:lnSpc>
                <a:spcPct val="214000"/>
              </a:lnSpc>
              <a:defRPr/>
            </a:pP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온도계수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현상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입증</a:t>
            </a:r>
          </a:p>
          <a:p>
            <a:pPr lvl="0" algn="ctr">
              <a:lnSpc>
                <a:spcPct val="214000"/>
              </a:lnSpc>
              <a:defRPr/>
            </a:pP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고온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지역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특화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설계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필요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9029700" y="5270500"/>
            <a:ext cx="952500" cy="9525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19786600" y="5270500"/>
            <a:ext cx="952500" cy="9525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14401800" y="5270500"/>
            <a:ext cx="952500" cy="9525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508000" y="177800"/>
            <a:ext cx="5486400" cy="5486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89000" y="736600"/>
            <a:ext cx="22606000" cy="3695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16200000">
            <a:off x="7073900" y="-3289300"/>
            <a:ext cx="10236200" cy="22606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968500" y="1727200"/>
            <a:ext cx="2514600" cy="2514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4597400" y="1803400"/>
            <a:ext cx="16085185" cy="1257300"/>
          </a:xfrm>
          <a:prstGeom prst="rect">
            <a:avLst/>
          </a:prstGeom>
        </p:spPr>
        <p:txBody>
          <a:bodyPr lIns="0" tIns="89745" rIns="0" bIns="89745" anchor="ctr"/>
          <a:lstStyle/>
          <a:p>
            <a:pPr lvl="0" algn="l">
              <a:lnSpc>
                <a:spcPct val="100000"/>
              </a:lnSpc>
              <a:defRPr/>
            </a:pPr>
            <a:r>
              <a:rPr lang="ko-KR" sz="7065" b="0" i="0" u="none" strike="noStrike" spc="-71">
                <a:solidFill>
                  <a:srgbClr val="FFFFFF"/>
                </a:solidFill>
                <a:ea typeface="MapoDPP"/>
              </a:rPr>
              <a:t>향후</a:t>
            </a:r>
            <a:r>
              <a:rPr lang="en-US" sz="7065" b="0" i="0" u="none" strike="noStrike" spc="-71">
                <a:solidFill>
                  <a:srgbClr val="FFFFFF"/>
                </a:solidFill>
                <a:latin typeface="MapoDPP"/>
              </a:rPr>
              <a:t> </a:t>
            </a:r>
            <a:r>
              <a:rPr lang="ko-KR" sz="7065" b="0" i="0" u="none" strike="noStrike" spc="-71">
                <a:solidFill>
                  <a:srgbClr val="FFFFFF"/>
                </a:solidFill>
                <a:ea typeface="MapoDPP"/>
              </a:rPr>
              <a:t>전략</a:t>
            </a:r>
            <a:r>
              <a:rPr lang="en-US" sz="7065" b="0" i="0" u="none" strike="noStrike" spc="-71">
                <a:solidFill>
                  <a:srgbClr val="FFFFFF"/>
                </a:solidFill>
                <a:latin typeface="MapoDPP"/>
              </a:rPr>
              <a:t>: </a:t>
            </a:r>
            <a:r>
              <a:rPr lang="ko-KR" sz="7065" b="0" i="0" u="none" strike="noStrike" spc="-71">
                <a:solidFill>
                  <a:srgbClr val="FFFFFF"/>
                </a:solidFill>
                <a:ea typeface="MapoDPP"/>
              </a:rPr>
              <a:t>지역별</a:t>
            </a:r>
            <a:r>
              <a:rPr lang="en-US" sz="7065" b="0" i="0" u="none" strike="noStrike" spc="-71">
                <a:solidFill>
                  <a:srgbClr val="FFFFFF"/>
                </a:solidFill>
                <a:latin typeface="MapoDPP"/>
              </a:rPr>
              <a:t> </a:t>
            </a:r>
            <a:r>
              <a:rPr lang="ko-KR" sz="7065" b="0" i="0" u="none" strike="noStrike" spc="-71">
                <a:solidFill>
                  <a:srgbClr val="FFFFFF"/>
                </a:solidFill>
                <a:ea typeface="MapoDPP"/>
              </a:rPr>
              <a:t>맞춤형</a:t>
            </a:r>
            <a:r>
              <a:rPr lang="en-US" sz="7065" b="0" i="0" u="none" strike="noStrike" spc="-71">
                <a:solidFill>
                  <a:srgbClr val="FFFFFF"/>
                </a:solidFill>
                <a:latin typeface="MapoDPP"/>
              </a:rPr>
              <a:t> </a:t>
            </a:r>
            <a:r>
              <a:rPr lang="ko-KR" sz="7065" b="0" i="0" u="none" strike="noStrike" spc="-71">
                <a:solidFill>
                  <a:srgbClr val="FFFFFF"/>
                </a:solidFill>
                <a:ea typeface="MapoDPP"/>
              </a:rPr>
              <a:t>최적화</a:t>
            </a:r>
            <a:r>
              <a:rPr lang="en-US" sz="7065" b="0" i="0" u="none" strike="noStrike" spc="-71">
                <a:solidFill>
                  <a:srgbClr val="FFFFFF"/>
                </a:solidFill>
                <a:latin typeface="MapoDPP"/>
              </a:rPr>
              <a:t> </a:t>
            </a:r>
            <a:r>
              <a:rPr lang="ko-KR" sz="7065" b="0" i="0" u="none" strike="noStrike" spc="-71">
                <a:solidFill>
                  <a:srgbClr val="FFFFFF"/>
                </a:solidFill>
                <a:ea typeface="MapoDPP"/>
              </a:rPr>
              <a:t>로드맵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333500" y="4813300"/>
            <a:ext cx="4216400" cy="8191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971800" y="5130800"/>
            <a:ext cx="952500" cy="9525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778000" y="6172200"/>
            <a:ext cx="3403600" cy="546100"/>
          </a:xfrm>
          <a:prstGeom prst="rect">
            <a:avLst/>
          </a:prstGeom>
        </p:spPr>
        <p:txBody>
          <a:bodyPr anchor="b"/>
          <a:lstStyle/>
          <a:p>
            <a:pPr lvl="0" algn="ctr">
              <a:lnSpc>
                <a:spcPct val="124000"/>
              </a:lnSpc>
              <a:defRPr/>
            </a:pPr>
            <a:r>
              <a:rPr lang="ko-KR" sz="3065" b="0" i="0" u="none" strike="noStrike" spc="-92">
                <a:solidFill>
                  <a:srgbClr val="242424"/>
                </a:solidFill>
                <a:ea typeface="MapoDPP"/>
              </a:rPr>
              <a:t>설계</a:t>
            </a:r>
            <a:r>
              <a:rPr lang="en-US" sz="3065" b="0" i="0" u="none" strike="noStrike" spc="-92">
                <a:solidFill>
                  <a:srgbClr val="242424"/>
                </a:solidFill>
                <a:latin typeface="MapoDPP"/>
              </a:rPr>
              <a:t> </a:t>
            </a:r>
            <a:r>
              <a:rPr lang="ko-KR" sz="3065" b="0" i="0" u="none" strike="noStrike" spc="-92">
                <a:solidFill>
                  <a:srgbClr val="242424"/>
                </a:solidFill>
                <a:ea typeface="MapoDPP"/>
              </a:rPr>
              <a:t>전략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8821400" y="4813300"/>
            <a:ext cx="4216400" cy="8089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9202400" y="6273800"/>
            <a:ext cx="3403600" cy="546100"/>
          </a:xfrm>
          <a:prstGeom prst="rect">
            <a:avLst/>
          </a:prstGeom>
        </p:spPr>
        <p:txBody>
          <a:bodyPr anchor="b"/>
          <a:lstStyle/>
          <a:p>
            <a:pPr lvl="0" algn="ctr">
              <a:lnSpc>
                <a:spcPct val="124000"/>
              </a:lnSpc>
              <a:defRPr/>
            </a:pPr>
            <a:r>
              <a:rPr lang="ko-KR" sz="3065" b="0" i="0" u="none" strike="noStrike" spc="-92">
                <a:solidFill>
                  <a:srgbClr val="242424"/>
                </a:solidFill>
                <a:ea typeface="MapoDPP"/>
              </a:rPr>
              <a:t>기대효과</a:t>
            </a:r>
            <a:r>
              <a:rPr lang="en-US" sz="3065" b="0" i="0" u="none" strike="noStrike" spc="-92">
                <a:solidFill>
                  <a:srgbClr val="242424"/>
                </a:solidFill>
                <a:latin typeface="MapoDPP"/>
              </a:rPr>
              <a:t> 2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5715000" y="4813300"/>
            <a:ext cx="4216400" cy="82169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5715000" y="6858000"/>
            <a:ext cx="4185285" cy="4978400"/>
          </a:xfrm>
          <a:prstGeom prst="rect">
            <a:avLst/>
          </a:prstGeom>
        </p:spPr>
        <p:txBody>
          <a:bodyPr anchor="t"/>
          <a:lstStyle/>
          <a:p>
            <a:pPr lvl="0" algn="ctr">
              <a:lnSpc>
                <a:spcPct val="158000"/>
              </a:lnSpc>
              <a:defRPr/>
            </a:pPr>
            <a:r>
              <a:rPr lang="en-US" sz="2935" b="0" i="0" u="none" strike="noStrike" spc="-234">
                <a:solidFill>
                  <a:srgbClr val="242424"/>
                </a:solidFill>
                <a:latin typeface="Pretendard Light"/>
              </a:rPr>
              <a:t>-</a:t>
            </a:r>
            <a:r>
              <a:rPr lang="en-US" sz="2800" b="0" i="0" u="none" strike="noStrike" spc="-335">
                <a:solidFill>
                  <a:srgbClr val="242424"/>
                </a:solidFill>
                <a:latin typeface="Pretendard Light"/>
              </a:rPr>
              <a:t> N-type </a:t>
            </a:r>
            <a:r>
              <a:rPr lang="ko-KR" sz="2800" b="0" i="0" u="none" strike="noStrike" spc="-335">
                <a:solidFill>
                  <a:srgbClr val="242424"/>
                </a:solidFill>
                <a:ea typeface="Pretendard Light"/>
              </a:rPr>
              <a:t>모듈</a:t>
            </a:r>
            <a:r>
              <a:rPr lang="en-US" sz="2800" b="0" i="0" u="none" strike="noStrike" spc="-335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335">
                <a:solidFill>
                  <a:srgbClr val="242424"/>
                </a:solidFill>
                <a:ea typeface="Pretendard Light"/>
              </a:rPr>
              <a:t>등</a:t>
            </a:r>
            <a:r>
              <a:rPr lang="en-US" sz="2800" b="0" i="0" u="none" strike="noStrike" spc="-335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335">
                <a:solidFill>
                  <a:srgbClr val="242424"/>
                </a:solidFill>
                <a:ea typeface="Pretendard Light"/>
              </a:rPr>
              <a:t>온도</a:t>
            </a:r>
            <a:r>
              <a:rPr lang="en-US" sz="2800" b="0" i="0" u="none" strike="noStrike" spc="-335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335">
                <a:solidFill>
                  <a:srgbClr val="242424"/>
                </a:solidFill>
                <a:ea typeface="Pretendard Light"/>
              </a:rPr>
              <a:t>민감도</a:t>
            </a:r>
          </a:p>
          <a:p>
            <a:pPr lvl="0" algn="ctr">
              <a:lnSpc>
                <a:spcPct val="158000"/>
              </a:lnSpc>
              <a:defRPr/>
            </a:pPr>
            <a:r>
              <a:rPr lang="en-US" sz="2800" b="0" i="0" u="none" strike="noStrike" spc="-335">
                <a:solidFill>
                  <a:srgbClr val="242424"/>
                </a:solidFill>
                <a:latin typeface="Pretendard Light"/>
              </a:rPr>
              <a:t>  </a:t>
            </a:r>
            <a:r>
              <a:rPr lang="ko-KR" sz="2800" b="0" i="0" u="none" strike="noStrike" spc="-335">
                <a:solidFill>
                  <a:srgbClr val="242424"/>
                </a:solidFill>
                <a:ea typeface="Pretendard Light"/>
              </a:rPr>
              <a:t>낮은</a:t>
            </a:r>
            <a:r>
              <a:rPr lang="en-US" sz="2800" b="0" i="0" u="none" strike="noStrike" spc="-335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335">
                <a:solidFill>
                  <a:srgbClr val="242424"/>
                </a:solidFill>
                <a:ea typeface="Pretendard Light"/>
              </a:rPr>
              <a:t>차세대</a:t>
            </a:r>
            <a:r>
              <a:rPr lang="en-US" sz="2800" b="0" i="0" u="none" strike="noStrike" spc="-335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335">
                <a:solidFill>
                  <a:srgbClr val="242424"/>
                </a:solidFill>
                <a:ea typeface="Pretendard Light"/>
              </a:rPr>
              <a:t>셀</a:t>
            </a:r>
            <a:r>
              <a:rPr lang="en-US" sz="2800" b="0" i="0" u="none" strike="noStrike" spc="-335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335">
                <a:solidFill>
                  <a:srgbClr val="242424"/>
                </a:solidFill>
                <a:ea typeface="Pretendard Light"/>
              </a:rPr>
              <a:t>도입</a:t>
            </a:r>
          </a:p>
          <a:p>
            <a:pPr lvl="0" algn="ctr">
              <a:lnSpc>
                <a:spcPct val="158000"/>
              </a:lnSpc>
              <a:defRPr/>
            </a:pPr>
            <a:r>
              <a:rPr lang="en-US" sz="2800" b="0" i="0" u="none" strike="noStrike" spc="-335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800" b="0" i="0" u="none" strike="noStrike" spc="-335">
                <a:solidFill>
                  <a:srgbClr val="242424"/>
                </a:solidFill>
                <a:ea typeface="Pretendard Light"/>
              </a:rPr>
              <a:t>실시간</a:t>
            </a:r>
            <a:r>
              <a:rPr lang="en-US" sz="2800" b="0" i="0" u="none" strike="noStrike" spc="-335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335">
                <a:solidFill>
                  <a:srgbClr val="242424"/>
                </a:solidFill>
                <a:ea typeface="Pretendard Light"/>
              </a:rPr>
              <a:t>기온</a:t>
            </a:r>
            <a:r>
              <a:rPr lang="en-US" sz="2800" b="0" i="0" u="none" strike="noStrike" spc="-335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335">
                <a:solidFill>
                  <a:srgbClr val="242424"/>
                </a:solidFill>
                <a:ea typeface="Pretendard Light"/>
              </a:rPr>
              <a:t>연동</a:t>
            </a:r>
            <a:r>
              <a:rPr lang="en-US" sz="2800" b="0" i="0" u="none" strike="noStrike" spc="-335">
                <a:solidFill>
                  <a:srgbClr val="242424"/>
                </a:solidFill>
                <a:latin typeface="Pretendard Light"/>
              </a:rPr>
              <a:t> '</a:t>
            </a:r>
            <a:r>
              <a:rPr lang="ko-KR" sz="2800" b="0" i="0" u="none" strike="noStrike" spc="-335">
                <a:solidFill>
                  <a:srgbClr val="242424"/>
                </a:solidFill>
                <a:ea typeface="Pretendard Light"/>
              </a:rPr>
              <a:t>지능형</a:t>
            </a:r>
          </a:p>
          <a:p>
            <a:pPr lvl="0" algn="ctr">
              <a:lnSpc>
                <a:spcPct val="158000"/>
              </a:lnSpc>
              <a:defRPr/>
            </a:pPr>
            <a:r>
              <a:rPr lang="en-US" sz="2800" b="0" i="0" u="none" strike="noStrike" spc="-335">
                <a:solidFill>
                  <a:srgbClr val="242424"/>
                </a:solidFill>
                <a:latin typeface="Pretendard Light"/>
              </a:rPr>
              <a:t>  </a:t>
            </a:r>
            <a:r>
              <a:rPr lang="ko-KR" sz="2800" b="0" i="0" u="none" strike="noStrike" spc="-335">
                <a:solidFill>
                  <a:srgbClr val="242424"/>
                </a:solidFill>
                <a:ea typeface="Pretendard Light"/>
              </a:rPr>
              <a:t>냉각</a:t>
            </a:r>
            <a:r>
              <a:rPr lang="en-US" sz="2800" b="0" i="0" u="none" strike="noStrike" spc="-335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335">
                <a:solidFill>
                  <a:srgbClr val="242424"/>
                </a:solidFill>
                <a:ea typeface="Pretendard Light"/>
              </a:rPr>
              <a:t>시스템</a:t>
            </a:r>
            <a:r>
              <a:rPr lang="en-US" sz="2800" b="0" i="0" u="none" strike="noStrike" spc="-335">
                <a:solidFill>
                  <a:srgbClr val="242424"/>
                </a:solidFill>
                <a:latin typeface="Pretendard Light"/>
              </a:rPr>
              <a:t>' </a:t>
            </a:r>
            <a:r>
              <a:rPr lang="ko-KR" sz="2800" b="0" i="0" u="none" strike="noStrike" spc="-335">
                <a:solidFill>
                  <a:srgbClr val="242424"/>
                </a:solidFill>
                <a:ea typeface="Pretendard Light"/>
              </a:rPr>
              <a:t>구축</a:t>
            </a:r>
          </a:p>
          <a:p>
            <a:pPr lvl="0" algn="ctr">
              <a:lnSpc>
                <a:spcPct val="158000"/>
              </a:lnSpc>
              <a:defRPr/>
            </a:pPr>
            <a:r>
              <a:rPr lang="en-US" sz="2800" b="0" i="0" u="none" strike="noStrike" spc="-335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800" b="0" i="0" u="none" strike="noStrike" spc="-335">
                <a:solidFill>
                  <a:srgbClr val="242424"/>
                </a:solidFill>
                <a:ea typeface="Pretendard Light"/>
              </a:rPr>
              <a:t>자가</a:t>
            </a:r>
            <a:r>
              <a:rPr lang="en-US" sz="2800" b="0" i="0" u="none" strike="noStrike" spc="-335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335">
                <a:solidFill>
                  <a:srgbClr val="242424"/>
                </a:solidFill>
                <a:ea typeface="Pretendard Light"/>
              </a:rPr>
              <a:t>세척</a:t>
            </a:r>
            <a:r>
              <a:rPr lang="en-US" sz="2800" b="0" i="0" u="none" strike="noStrike" spc="-335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335">
                <a:solidFill>
                  <a:srgbClr val="242424"/>
                </a:solidFill>
                <a:ea typeface="Pretendard Light"/>
              </a:rPr>
              <a:t>코팅</a:t>
            </a:r>
            <a:r>
              <a:rPr lang="en-US" sz="2800" b="0" i="0" u="none" strike="noStrike" spc="-335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335">
                <a:solidFill>
                  <a:srgbClr val="242424"/>
                </a:solidFill>
                <a:ea typeface="Pretendard Light"/>
              </a:rPr>
              <a:t>기술</a:t>
            </a:r>
            <a:r>
              <a:rPr lang="en-US" sz="2800" b="0" i="0" u="none" strike="noStrike" spc="-335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335">
                <a:solidFill>
                  <a:srgbClr val="242424"/>
                </a:solidFill>
                <a:ea typeface="Pretendard Light"/>
              </a:rPr>
              <a:t>적용</a:t>
            </a:r>
          </a:p>
          <a:p>
            <a:pPr lvl="0" algn="ctr">
              <a:lnSpc>
                <a:spcPct val="158000"/>
              </a:lnSpc>
              <a:defRPr/>
            </a:pPr>
            <a:r>
              <a:rPr lang="en-US" sz="2800" b="0" i="0" u="none" strike="noStrike" spc="-335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800" b="0" i="0" u="none" strike="noStrike" spc="-335">
                <a:solidFill>
                  <a:srgbClr val="242424"/>
                </a:solidFill>
                <a:ea typeface="Pretendard Light"/>
              </a:rPr>
              <a:t>스마트</a:t>
            </a:r>
            <a:r>
              <a:rPr lang="en-US" sz="2800" b="0" i="0" u="none" strike="noStrike" spc="-335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335">
                <a:solidFill>
                  <a:srgbClr val="242424"/>
                </a:solidFill>
                <a:ea typeface="Pretendard Light"/>
              </a:rPr>
              <a:t>인버터</a:t>
            </a:r>
            <a:r>
              <a:rPr lang="en-US" sz="2800" b="0" i="0" u="none" strike="noStrike" spc="-335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335">
                <a:solidFill>
                  <a:srgbClr val="242424"/>
                </a:solidFill>
                <a:ea typeface="Pretendard Light"/>
              </a:rPr>
              <a:t>시스템</a:t>
            </a:r>
            <a:r>
              <a:rPr lang="en-US" sz="2800" b="0" i="0" u="none" strike="noStrike" spc="-335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335">
                <a:solidFill>
                  <a:srgbClr val="242424"/>
                </a:solidFill>
                <a:ea typeface="Pretendard Light"/>
              </a:rPr>
              <a:t>도입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057900" y="6146800"/>
            <a:ext cx="3403600" cy="546100"/>
          </a:xfrm>
          <a:prstGeom prst="rect">
            <a:avLst/>
          </a:prstGeom>
        </p:spPr>
        <p:txBody>
          <a:bodyPr anchor="b"/>
          <a:lstStyle/>
          <a:p>
            <a:pPr lvl="0" algn="ctr">
              <a:lnSpc>
                <a:spcPct val="124000"/>
              </a:lnSpc>
              <a:defRPr/>
            </a:pPr>
            <a:r>
              <a:rPr lang="ko-KR" sz="3065" b="0" i="0" u="none" strike="noStrike" spc="-92">
                <a:solidFill>
                  <a:srgbClr val="242424"/>
                </a:solidFill>
                <a:ea typeface="MapoDPP"/>
              </a:rPr>
              <a:t>기술</a:t>
            </a:r>
            <a:r>
              <a:rPr lang="en-US" sz="3065" b="0" i="0" u="none" strike="noStrike" spc="-92">
                <a:solidFill>
                  <a:srgbClr val="242424"/>
                </a:solidFill>
                <a:latin typeface="MapoDPP"/>
              </a:rPr>
              <a:t> </a:t>
            </a:r>
            <a:r>
              <a:rPr lang="ko-KR" sz="3065" b="0" i="0" u="none" strike="noStrike" spc="-92">
                <a:solidFill>
                  <a:srgbClr val="242424"/>
                </a:solidFill>
                <a:ea typeface="MapoDPP"/>
              </a:rPr>
              <a:t>전략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0083800" y="4838700"/>
            <a:ext cx="4216400" cy="8153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0452100" y="6134100"/>
            <a:ext cx="3403600" cy="546100"/>
          </a:xfrm>
          <a:prstGeom prst="rect">
            <a:avLst/>
          </a:prstGeom>
        </p:spPr>
        <p:txBody>
          <a:bodyPr anchor="b"/>
          <a:lstStyle/>
          <a:p>
            <a:pPr lvl="0" algn="ctr">
              <a:lnSpc>
                <a:spcPct val="124000"/>
              </a:lnSpc>
              <a:defRPr/>
            </a:pPr>
            <a:r>
              <a:rPr lang="ko-KR" sz="3065" b="0" i="0" u="none" strike="noStrike" spc="-92">
                <a:solidFill>
                  <a:srgbClr val="242424"/>
                </a:solidFill>
                <a:ea typeface="MapoDPP"/>
              </a:rPr>
              <a:t>관리</a:t>
            </a:r>
            <a:r>
              <a:rPr lang="en-US" sz="3065" b="0" i="0" u="none" strike="noStrike" spc="-92">
                <a:solidFill>
                  <a:srgbClr val="242424"/>
                </a:solidFill>
                <a:latin typeface="MapoDPP"/>
              </a:rPr>
              <a:t> </a:t>
            </a:r>
            <a:r>
              <a:rPr lang="ko-KR" sz="3065" b="0" i="0" u="none" strike="noStrike" spc="-92">
                <a:solidFill>
                  <a:srgbClr val="242424"/>
                </a:solidFill>
                <a:ea typeface="MapoDPP"/>
              </a:rPr>
              <a:t>전략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14452600" y="4838700"/>
            <a:ext cx="4216400" cy="80899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4897100" y="6235700"/>
            <a:ext cx="3403600" cy="546100"/>
          </a:xfrm>
          <a:prstGeom prst="rect">
            <a:avLst/>
          </a:prstGeom>
        </p:spPr>
        <p:txBody>
          <a:bodyPr anchor="b"/>
          <a:lstStyle/>
          <a:p>
            <a:pPr lvl="0" algn="ctr">
              <a:lnSpc>
                <a:spcPct val="124000"/>
              </a:lnSpc>
              <a:defRPr/>
            </a:pPr>
            <a:r>
              <a:rPr lang="ko-KR" sz="3065" b="0" i="0" u="none" strike="noStrike" spc="-92">
                <a:solidFill>
                  <a:srgbClr val="242424"/>
                </a:solidFill>
                <a:ea typeface="MapoDPP"/>
              </a:rPr>
              <a:t>기대효과</a:t>
            </a:r>
            <a:r>
              <a:rPr lang="en-US" sz="3065" b="0" i="0" u="none" strike="noStrike" spc="-92">
                <a:solidFill>
                  <a:srgbClr val="242424"/>
                </a:solidFill>
                <a:latin typeface="MapoDPP"/>
              </a:rPr>
              <a:t> 1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7340600" y="5130800"/>
            <a:ext cx="952500" cy="9525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16090900" y="5130800"/>
            <a:ext cx="952500" cy="9525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11722100" y="5130800"/>
            <a:ext cx="952500" cy="9525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20459700" y="5130800"/>
            <a:ext cx="952500" cy="9525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1371600" y="6858000"/>
            <a:ext cx="4191000" cy="4991100"/>
          </a:xfrm>
          <a:prstGeom prst="rect">
            <a:avLst/>
          </a:prstGeom>
        </p:spPr>
        <p:txBody>
          <a:bodyPr anchor="t"/>
          <a:lstStyle/>
          <a:p>
            <a:pPr lvl="0" algn="ctr">
              <a:lnSpc>
                <a:spcPct val="124000"/>
              </a:lnSpc>
              <a:defRPr/>
            </a:pP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고온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지역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: '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수상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태양광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'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및</a:t>
            </a:r>
          </a:p>
          <a:p>
            <a:pPr lvl="0" algn="ctr">
              <a:lnSpc>
                <a:spcPct val="124000"/>
              </a:lnSpc>
              <a:defRPr/>
            </a:pP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방열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설계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의무화</a:t>
            </a:r>
          </a:p>
          <a:p>
            <a:pPr lvl="0" algn="ctr">
              <a:lnSpc>
                <a:spcPct val="124000"/>
              </a:lnSpc>
              <a:defRPr/>
            </a:pP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지역별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최적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경사각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산출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및</a:t>
            </a:r>
          </a:p>
          <a:p>
            <a:pPr lvl="0" algn="ctr">
              <a:lnSpc>
                <a:spcPct val="124000"/>
              </a:lnSpc>
              <a:defRPr/>
            </a:pP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적용</a:t>
            </a:r>
          </a:p>
          <a:p>
            <a:pPr lvl="0" algn="ctr">
              <a:lnSpc>
                <a:spcPct val="124000"/>
              </a:lnSpc>
              <a:defRPr/>
            </a:pP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건물형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태양광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(BIPV)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확대</a:t>
            </a:r>
          </a:p>
          <a:p>
            <a:pPr lvl="0" algn="ctr">
              <a:lnSpc>
                <a:spcPct val="124000"/>
              </a:lnSpc>
              <a:defRPr/>
            </a:pP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양면형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모듈</a:t>
            </a:r>
            <a:r>
              <a:rPr lang="en-US" sz="2935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>
                <a:solidFill>
                  <a:srgbClr val="242424"/>
                </a:solidFill>
                <a:ea typeface="Pretendard Light"/>
              </a:rPr>
              <a:t>활용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140950" y="6858000"/>
            <a:ext cx="4260850" cy="4635500"/>
          </a:xfrm>
          <a:prstGeom prst="rect">
            <a:avLst/>
          </a:prstGeom>
        </p:spPr>
        <p:txBody>
          <a:bodyPr anchor="t"/>
          <a:lstStyle/>
          <a:p>
            <a:pPr lvl="0" algn="ctr">
              <a:lnSpc>
                <a:spcPct val="183000"/>
              </a:lnSpc>
              <a:defRPr/>
            </a:pPr>
            <a:r>
              <a:rPr lang="en-US" sz="2935" b="0" i="0" u="none" strike="noStrike" spc="-247">
                <a:solidFill>
                  <a:srgbClr val="242424"/>
                </a:solidFill>
                <a:latin typeface="Pretendard Light"/>
              </a:rPr>
              <a:t>-</a:t>
            </a:r>
            <a:r>
              <a:rPr lang="en-US" sz="2800" b="0" i="0" u="none" strike="noStrike" spc="-247">
                <a:solidFill>
                  <a:srgbClr val="242424"/>
                </a:solidFill>
                <a:latin typeface="Pretendard Light"/>
              </a:rPr>
              <a:t> AI </a:t>
            </a:r>
            <a:r>
              <a:rPr lang="ko-KR" sz="2800" b="0" i="0" u="none" strike="noStrike" spc="-247">
                <a:solidFill>
                  <a:srgbClr val="242424"/>
                </a:solidFill>
                <a:ea typeface="Pretendard Light"/>
              </a:rPr>
              <a:t>모니터링</a:t>
            </a:r>
            <a:r>
              <a:rPr lang="en-US" sz="2800" b="0" i="0" u="none" strike="noStrike" spc="-247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247">
                <a:solidFill>
                  <a:srgbClr val="242424"/>
                </a:solidFill>
                <a:ea typeface="Pretendard Light"/>
              </a:rPr>
              <a:t>통한</a:t>
            </a:r>
            <a:r>
              <a:rPr lang="en-US" sz="2800" b="0" i="0" u="none" strike="noStrike" spc="-247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247">
                <a:solidFill>
                  <a:srgbClr val="242424"/>
                </a:solidFill>
                <a:ea typeface="Pretendard Light"/>
              </a:rPr>
              <a:t>예지</a:t>
            </a:r>
            <a:r>
              <a:rPr lang="en-US" sz="2800" b="0" i="0" u="none" strike="noStrike" spc="-247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247">
                <a:solidFill>
                  <a:srgbClr val="242424"/>
                </a:solidFill>
                <a:ea typeface="Pretendard Light"/>
              </a:rPr>
              <a:t>정비</a:t>
            </a:r>
            <a:endParaRPr lang="en-US" sz="2800" b="0" i="0" u="none" strike="noStrike" spc="-247">
              <a:solidFill>
                <a:srgbClr val="242424"/>
              </a:solidFill>
              <a:latin typeface="Pretendard Light"/>
            </a:endParaRPr>
          </a:p>
          <a:p>
            <a:pPr lvl="0" algn="ctr">
              <a:lnSpc>
                <a:spcPct val="183000"/>
              </a:lnSpc>
              <a:defRPr/>
            </a:pPr>
            <a:r>
              <a:rPr lang="en-US" sz="2800" b="0" i="0" u="none" strike="noStrike" spc="-247">
                <a:solidFill>
                  <a:srgbClr val="242424"/>
                </a:solidFill>
                <a:latin typeface="Pretendard Light"/>
              </a:rPr>
              <a:t>  </a:t>
            </a:r>
            <a:r>
              <a:rPr lang="ko-KR" sz="2800" b="0" i="0" u="none" strike="noStrike" spc="-247">
                <a:solidFill>
                  <a:srgbClr val="242424"/>
                </a:solidFill>
                <a:ea typeface="Pretendard Light"/>
              </a:rPr>
              <a:t>시스템</a:t>
            </a:r>
            <a:r>
              <a:rPr lang="en-US" sz="2800" b="0" i="0" u="none" strike="noStrike" spc="-247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247">
                <a:solidFill>
                  <a:srgbClr val="242424"/>
                </a:solidFill>
                <a:ea typeface="Pretendard Light"/>
              </a:rPr>
              <a:t>도입</a:t>
            </a:r>
          </a:p>
          <a:p>
            <a:pPr lvl="0" algn="ctr">
              <a:lnSpc>
                <a:spcPct val="183000"/>
              </a:lnSpc>
              <a:defRPr/>
            </a:pPr>
            <a:r>
              <a:rPr lang="en-US" sz="2800" b="0" i="0" u="none" strike="noStrike" spc="-247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800" b="0" i="0" u="none" strike="noStrike" spc="-247">
                <a:solidFill>
                  <a:srgbClr val="242424"/>
                </a:solidFill>
                <a:ea typeface="Pretendard Light"/>
              </a:rPr>
              <a:t>도심권</a:t>
            </a:r>
            <a:r>
              <a:rPr lang="en-US" sz="2800" b="0" i="0" u="none" strike="noStrike" spc="-247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247">
                <a:solidFill>
                  <a:srgbClr val="242424"/>
                </a:solidFill>
                <a:ea typeface="Pretendard Light"/>
              </a:rPr>
              <a:t>미세먼지</a:t>
            </a:r>
            <a:r>
              <a:rPr lang="en-US" sz="2800" b="0" i="0" u="none" strike="noStrike" spc="-247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247">
                <a:solidFill>
                  <a:srgbClr val="242424"/>
                </a:solidFill>
                <a:ea typeface="Pretendard Light"/>
              </a:rPr>
              <a:t>대응</a:t>
            </a:r>
            <a:r>
              <a:rPr lang="en-US" sz="2800" b="0" i="0" u="none" strike="noStrike" spc="-247">
                <a:solidFill>
                  <a:srgbClr val="242424"/>
                </a:solidFill>
                <a:latin typeface="Pretendard Light"/>
              </a:rPr>
              <a:t> '</a:t>
            </a:r>
            <a:r>
              <a:rPr lang="ko-KR" sz="2800" b="0" i="0" u="none" strike="noStrike" spc="-247">
                <a:solidFill>
                  <a:srgbClr val="242424"/>
                </a:solidFill>
                <a:ea typeface="Pretendard Light"/>
              </a:rPr>
              <a:t>자동</a:t>
            </a:r>
          </a:p>
          <a:p>
            <a:pPr lvl="0" algn="ctr">
              <a:lnSpc>
                <a:spcPct val="183000"/>
              </a:lnSpc>
              <a:defRPr/>
            </a:pPr>
            <a:r>
              <a:rPr lang="en-US" sz="2800" b="0" i="0" u="none" strike="noStrike" spc="-247">
                <a:solidFill>
                  <a:srgbClr val="242424"/>
                </a:solidFill>
                <a:latin typeface="Pretendard Light"/>
              </a:rPr>
              <a:t>  </a:t>
            </a:r>
            <a:r>
              <a:rPr lang="ko-KR" sz="2800" b="0" i="0" u="none" strike="noStrike" spc="-247">
                <a:solidFill>
                  <a:srgbClr val="242424"/>
                </a:solidFill>
                <a:ea typeface="Pretendard Light"/>
              </a:rPr>
              <a:t>세척</a:t>
            </a:r>
            <a:r>
              <a:rPr lang="en-US" sz="2800" b="0" i="0" u="none" strike="noStrike" spc="-247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247">
                <a:solidFill>
                  <a:srgbClr val="242424"/>
                </a:solidFill>
                <a:ea typeface="Pretendard Light"/>
              </a:rPr>
              <a:t>로봇</a:t>
            </a:r>
            <a:r>
              <a:rPr lang="en-US" sz="2800" b="0" i="0" u="none" strike="noStrike" spc="-247">
                <a:solidFill>
                  <a:srgbClr val="242424"/>
                </a:solidFill>
                <a:latin typeface="Pretendard Light"/>
              </a:rPr>
              <a:t>' </a:t>
            </a:r>
            <a:r>
              <a:rPr lang="ko-KR" sz="2800" b="0" i="0" u="none" strike="noStrike" spc="-247">
                <a:solidFill>
                  <a:srgbClr val="242424"/>
                </a:solidFill>
                <a:ea typeface="Pretendard Light"/>
              </a:rPr>
              <a:t>운영</a:t>
            </a:r>
          </a:p>
          <a:p>
            <a:pPr lvl="0" algn="ctr">
              <a:lnSpc>
                <a:spcPct val="183000"/>
              </a:lnSpc>
              <a:defRPr/>
            </a:pPr>
            <a:r>
              <a:rPr lang="en-US" sz="2800" b="0" i="0" u="none" strike="noStrike" spc="-247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800" b="0" i="0" u="none" strike="noStrike" spc="-247">
                <a:solidFill>
                  <a:srgbClr val="242424"/>
                </a:solidFill>
                <a:ea typeface="Pretendard Light"/>
              </a:rPr>
              <a:t>지역별</a:t>
            </a:r>
            <a:r>
              <a:rPr lang="en-US" sz="2800" b="0" i="0" u="none" strike="noStrike" spc="-247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247">
                <a:solidFill>
                  <a:srgbClr val="242424"/>
                </a:solidFill>
                <a:ea typeface="Pretendard Light"/>
              </a:rPr>
              <a:t>기상</a:t>
            </a:r>
            <a:r>
              <a:rPr lang="en-US" sz="2800" b="0" i="0" u="none" strike="noStrike" spc="-247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247">
                <a:solidFill>
                  <a:srgbClr val="242424"/>
                </a:solidFill>
                <a:ea typeface="Pretendard Light"/>
              </a:rPr>
              <a:t>데이터</a:t>
            </a:r>
            <a:r>
              <a:rPr lang="en-US" sz="2800" b="0" i="0" u="none" strike="noStrike" spc="-247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247">
                <a:solidFill>
                  <a:srgbClr val="242424"/>
                </a:solidFill>
                <a:ea typeface="Pretendard Light"/>
              </a:rPr>
              <a:t>연계</a:t>
            </a:r>
          </a:p>
          <a:p>
            <a:pPr lvl="0" algn="ctr">
              <a:lnSpc>
                <a:spcPct val="183000"/>
              </a:lnSpc>
              <a:defRPr/>
            </a:pPr>
            <a:r>
              <a:rPr lang="en-US" sz="2800" b="0" i="0" u="none" strike="noStrike" spc="-247">
                <a:solidFill>
                  <a:srgbClr val="242424"/>
                </a:solidFill>
                <a:latin typeface="Pretendard Light"/>
              </a:rPr>
              <a:t>  </a:t>
            </a:r>
            <a:r>
              <a:rPr lang="ko-KR" sz="2800" b="0" i="0" u="none" strike="noStrike" spc="-247">
                <a:solidFill>
                  <a:srgbClr val="242424"/>
                </a:solidFill>
                <a:ea typeface="Pretendard Light"/>
              </a:rPr>
              <a:t>운영</a:t>
            </a:r>
            <a:r>
              <a:rPr lang="en-US" sz="2800" b="0" i="0" u="none" strike="noStrike" spc="-247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247">
                <a:solidFill>
                  <a:srgbClr val="242424"/>
                </a:solidFill>
                <a:ea typeface="Pretendard Light"/>
              </a:rPr>
              <a:t>시스템</a:t>
            </a:r>
            <a:r>
              <a:rPr lang="en-US" sz="2800" b="0" i="0" u="none" strike="noStrike" spc="-247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247">
                <a:solidFill>
                  <a:srgbClr val="242424"/>
                </a:solidFill>
                <a:ea typeface="Pretendard Light"/>
              </a:rPr>
              <a:t>구</a:t>
            </a:r>
            <a:r>
              <a:rPr lang="ko-KR" sz="2800" b="0" i="0" u="none" strike="noStrike" spc="-147">
                <a:solidFill>
                  <a:srgbClr val="242424"/>
                </a:solidFill>
                <a:ea typeface="Pretendard Light"/>
              </a:rPr>
              <a:t>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478000" y="6858000"/>
            <a:ext cx="4267200" cy="4699000"/>
          </a:xfrm>
          <a:prstGeom prst="rect">
            <a:avLst/>
          </a:prstGeom>
        </p:spPr>
        <p:txBody>
          <a:bodyPr anchor="t"/>
          <a:lstStyle/>
          <a:p>
            <a:pPr lvl="0" algn="ctr">
              <a:lnSpc>
                <a:spcPct val="155000"/>
              </a:lnSpc>
              <a:defRPr/>
            </a:pPr>
            <a:r>
              <a:rPr lang="en-US" sz="2935" b="0" i="0" u="none" strike="noStrike" spc="-10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5" b="0" i="0" u="none" strike="noStrike" spc="-100">
                <a:solidFill>
                  <a:srgbClr val="242424"/>
                </a:solidFill>
                <a:ea typeface="Pretendard Light"/>
              </a:rPr>
              <a:t>발전</a:t>
            </a:r>
            <a:r>
              <a:rPr lang="en-US" sz="2935" b="0" i="0" u="none" strike="noStrike" spc="-10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 spc="-100">
                <a:solidFill>
                  <a:srgbClr val="242424"/>
                </a:solidFill>
                <a:ea typeface="Pretendard Light"/>
              </a:rPr>
              <a:t>수익</a:t>
            </a:r>
            <a:r>
              <a:rPr lang="en-US" sz="2935" b="0" i="0" u="none" strike="noStrike" spc="-10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 spc="-100">
                <a:solidFill>
                  <a:srgbClr val="242424"/>
                </a:solidFill>
                <a:ea typeface="Pretendard Light"/>
              </a:rPr>
              <a:t>극대화</a:t>
            </a:r>
            <a:r>
              <a:rPr lang="en-US" sz="2935" b="0" i="0" u="none" strike="noStrike" spc="-100">
                <a:solidFill>
                  <a:srgbClr val="242424"/>
                </a:solidFill>
                <a:latin typeface="Pretendard Light"/>
              </a:rPr>
              <a:t>: </a:t>
            </a:r>
            <a:r>
              <a:rPr lang="ko-KR" sz="2935" b="0" i="0" u="none" strike="noStrike" spc="-100">
                <a:solidFill>
                  <a:srgbClr val="242424"/>
                </a:solidFill>
                <a:ea typeface="Pretendard Light"/>
              </a:rPr>
              <a:t>기온</a:t>
            </a:r>
            <a:r>
              <a:rPr lang="en-US" sz="2935" b="0" i="0" u="none" strike="noStrike" spc="-10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 spc="-100">
                <a:solidFill>
                  <a:srgbClr val="242424"/>
                </a:solidFill>
                <a:ea typeface="Pretendard Light"/>
              </a:rPr>
              <a:t>손실</a:t>
            </a:r>
          </a:p>
          <a:p>
            <a:pPr lvl="0" algn="ctr">
              <a:lnSpc>
                <a:spcPct val="155000"/>
              </a:lnSpc>
              <a:defRPr/>
            </a:pPr>
            <a:r>
              <a:rPr lang="en-US" sz="2935" b="0" i="0" u="none" strike="noStrike" spc="-100">
                <a:solidFill>
                  <a:srgbClr val="242424"/>
                </a:solidFill>
                <a:latin typeface="Pretendard Light"/>
              </a:rPr>
              <a:t>  </a:t>
            </a:r>
            <a:r>
              <a:rPr lang="ko-KR" sz="2935" b="0" i="0" u="none" strike="noStrike" spc="-100">
                <a:solidFill>
                  <a:srgbClr val="242424"/>
                </a:solidFill>
                <a:ea typeface="Pretendard Light"/>
              </a:rPr>
              <a:t>방지로</a:t>
            </a:r>
            <a:r>
              <a:rPr lang="en-US" sz="2935" b="0" i="0" u="none" strike="noStrike" spc="-10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 spc="-100">
                <a:solidFill>
                  <a:srgbClr val="242424"/>
                </a:solidFill>
                <a:ea typeface="Pretendard Light"/>
              </a:rPr>
              <a:t>전국</a:t>
            </a:r>
            <a:r>
              <a:rPr lang="en-US" sz="2935" b="0" i="0" u="none" strike="noStrike" spc="-10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 spc="-100">
                <a:solidFill>
                  <a:srgbClr val="242424"/>
                </a:solidFill>
                <a:ea typeface="Pretendard Light"/>
              </a:rPr>
              <a:t>평균</a:t>
            </a:r>
            <a:r>
              <a:rPr lang="en-US" sz="2935" b="0" i="0" u="none" strike="noStrike" spc="-10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 spc="-100">
                <a:solidFill>
                  <a:srgbClr val="242424"/>
                </a:solidFill>
                <a:ea typeface="Pretendard Light"/>
              </a:rPr>
              <a:t>발전량</a:t>
            </a:r>
          </a:p>
          <a:p>
            <a:pPr lvl="0" algn="ctr">
              <a:lnSpc>
                <a:spcPct val="155000"/>
              </a:lnSpc>
              <a:defRPr/>
            </a:pPr>
            <a:r>
              <a:rPr lang="en-US" sz="2935" b="0" i="0" u="none" strike="noStrike" spc="-100">
                <a:solidFill>
                  <a:srgbClr val="242424"/>
                </a:solidFill>
                <a:latin typeface="Pretendard Light"/>
              </a:rPr>
              <a:t>  5~8% </a:t>
            </a:r>
            <a:r>
              <a:rPr lang="ko-KR" sz="2935" b="0" i="0" u="none" strike="noStrike" spc="-100">
                <a:solidFill>
                  <a:srgbClr val="242424"/>
                </a:solidFill>
                <a:ea typeface="Pretendard Light"/>
              </a:rPr>
              <a:t>향상</a:t>
            </a:r>
          </a:p>
          <a:p>
            <a:pPr lvl="0" algn="ctr">
              <a:lnSpc>
                <a:spcPct val="155000"/>
              </a:lnSpc>
              <a:defRPr/>
            </a:pPr>
            <a:r>
              <a:rPr lang="en-US" sz="2935" b="0" i="0" u="none" strike="noStrike" spc="-10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5" b="0" i="0" u="none" strike="noStrike" spc="-100">
                <a:solidFill>
                  <a:srgbClr val="242424"/>
                </a:solidFill>
                <a:ea typeface="Pretendard Light"/>
              </a:rPr>
              <a:t>설비</a:t>
            </a:r>
            <a:r>
              <a:rPr lang="en-US" sz="2935" b="0" i="0" u="none" strike="noStrike" spc="-10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 spc="-100">
                <a:solidFill>
                  <a:srgbClr val="242424"/>
                </a:solidFill>
                <a:ea typeface="Pretendard Light"/>
              </a:rPr>
              <a:t>수명</a:t>
            </a:r>
            <a:r>
              <a:rPr lang="en-US" sz="2935" b="0" i="0" u="none" strike="noStrike" spc="-10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 spc="-100">
                <a:solidFill>
                  <a:srgbClr val="242424"/>
                </a:solidFill>
                <a:ea typeface="Pretendard Light"/>
              </a:rPr>
              <a:t>연장</a:t>
            </a:r>
            <a:r>
              <a:rPr lang="en-US" sz="2935" b="0" i="0" u="none" strike="noStrike" spc="-100">
                <a:solidFill>
                  <a:srgbClr val="242424"/>
                </a:solidFill>
                <a:latin typeface="Pretendard Light"/>
              </a:rPr>
              <a:t>: </a:t>
            </a:r>
            <a:r>
              <a:rPr lang="ko-KR" sz="2935" b="0" i="0" u="none" strike="noStrike" spc="-100">
                <a:solidFill>
                  <a:srgbClr val="242424"/>
                </a:solidFill>
                <a:ea typeface="Pretendard Light"/>
              </a:rPr>
              <a:t>적절한</a:t>
            </a:r>
          </a:p>
          <a:p>
            <a:pPr lvl="0" algn="ctr">
              <a:lnSpc>
                <a:spcPct val="155000"/>
              </a:lnSpc>
              <a:defRPr/>
            </a:pPr>
            <a:r>
              <a:rPr lang="en-US" sz="2935" b="0" i="0" u="none" strike="noStrike" spc="-100">
                <a:solidFill>
                  <a:srgbClr val="242424"/>
                </a:solidFill>
                <a:latin typeface="Pretendard Light"/>
              </a:rPr>
              <a:t>  </a:t>
            </a:r>
            <a:r>
              <a:rPr lang="ko-KR" sz="2935" b="0" i="0" u="none" strike="noStrike" spc="-100">
                <a:solidFill>
                  <a:srgbClr val="242424"/>
                </a:solidFill>
                <a:ea typeface="Pretendard Light"/>
              </a:rPr>
              <a:t>온도</a:t>
            </a:r>
            <a:r>
              <a:rPr lang="en-US" sz="2935" b="0" i="0" u="none" strike="noStrike" spc="-10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 spc="-100">
                <a:solidFill>
                  <a:srgbClr val="242424"/>
                </a:solidFill>
                <a:ea typeface="Pretendard Light"/>
              </a:rPr>
              <a:t>관리로</a:t>
            </a:r>
            <a:r>
              <a:rPr lang="en-US" sz="2935" b="0" i="0" u="none" strike="noStrike" spc="-10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 spc="-100">
                <a:solidFill>
                  <a:srgbClr val="242424"/>
                </a:solidFill>
                <a:ea typeface="Pretendard Light"/>
              </a:rPr>
              <a:t>패널</a:t>
            </a:r>
            <a:r>
              <a:rPr lang="en-US" sz="2935" b="0" i="0" u="none" strike="noStrike" spc="-10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5" b="0" i="0" u="none" strike="noStrike" spc="-100">
                <a:solidFill>
                  <a:srgbClr val="242424"/>
                </a:solidFill>
                <a:ea typeface="Pretendard Light"/>
              </a:rPr>
              <a:t>수명</a:t>
            </a:r>
          </a:p>
          <a:p>
            <a:pPr lvl="0" algn="ctr">
              <a:lnSpc>
                <a:spcPct val="155000"/>
              </a:lnSpc>
              <a:defRPr/>
            </a:pPr>
            <a:r>
              <a:rPr lang="en-US" sz="2935" b="0" i="0" u="none" strike="noStrike" spc="-100">
                <a:solidFill>
                  <a:srgbClr val="242424"/>
                </a:solidFill>
                <a:latin typeface="Pretendard Light"/>
              </a:rPr>
              <a:t>  15~20% </a:t>
            </a:r>
            <a:r>
              <a:rPr lang="ko-KR" sz="2935" b="0" i="0" u="none" strike="noStrike" spc="-100">
                <a:solidFill>
                  <a:srgbClr val="242424"/>
                </a:solidFill>
                <a:ea typeface="Pretendard Light"/>
              </a:rPr>
              <a:t>증가</a:t>
            </a:r>
            <a:endParaRPr lang="ko-KR" sz="2900" b="0" i="0" u="none" strike="noStrike" spc="-100">
              <a:solidFill>
                <a:srgbClr val="242424"/>
              </a:solidFill>
              <a:ea typeface="Pretendard Light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8745200" y="6858000"/>
            <a:ext cx="4267200" cy="4584700"/>
          </a:xfrm>
          <a:prstGeom prst="rect">
            <a:avLst/>
          </a:prstGeom>
        </p:spPr>
        <p:txBody>
          <a:bodyPr anchor="t"/>
          <a:lstStyle/>
          <a:p>
            <a:pPr lvl="0" algn="ctr">
              <a:lnSpc>
                <a:spcPct val="181000"/>
              </a:lnSpc>
              <a:defRPr/>
            </a:pPr>
            <a:r>
              <a:rPr lang="en-US" sz="2935" b="0" i="0" u="none" strike="noStrike" spc="-234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800" b="0" i="0" u="none" strike="noStrike" spc="-234">
                <a:solidFill>
                  <a:srgbClr val="242424"/>
                </a:solidFill>
                <a:ea typeface="Pretendard Light"/>
              </a:rPr>
              <a:t>전</a:t>
            </a:r>
            <a:r>
              <a:rPr lang="ko-KR" sz="2800" b="0" i="0" u="none" strike="noStrike" spc="-335">
                <a:solidFill>
                  <a:srgbClr val="242424"/>
                </a:solidFill>
                <a:ea typeface="Pretendard Light"/>
              </a:rPr>
              <a:t>력망</a:t>
            </a:r>
            <a:r>
              <a:rPr lang="en-US" sz="2800" b="0" i="0" u="none" strike="noStrike" spc="-335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335">
                <a:solidFill>
                  <a:srgbClr val="242424"/>
                </a:solidFill>
                <a:ea typeface="Pretendard Light"/>
              </a:rPr>
              <a:t>안정화</a:t>
            </a:r>
            <a:r>
              <a:rPr lang="en-US" sz="2800" b="0" i="0" u="none" strike="noStrike" spc="-335">
                <a:solidFill>
                  <a:srgbClr val="242424"/>
                </a:solidFill>
                <a:latin typeface="Pretendard Light"/>
              </a:rPr>
              <a:t>: </a:t>
            </a:r>
            <a:r>
              <a:rPr lang="ko-KR" sz="2800" b="0" i="0" u="none" strike="noStrike" spc="-335">
                <a:solidFill>
                  <a:srgbClr val="242424"/>
                </a:solidFill>
                <a:ea typeface="Pretendard Light"/>
              </a:rPr>
              <a:t>지역별</a:t>
            </a:r>
            <a:r>
              <a:rPr lang="en-US" sz="2800" b="0" i="0" u="none" strike="noStrike" spc="-335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335">
                <a:solidFill>
                  <a:srgbClr val="242424"/>
                </a:solidFill>
                <a:ea typeface="Pretendard Light"/>
              </a:rPr>
              <a:t>효율</a:t>
            </a:r>
          </a:p>
          <a:p>
            <a:pPr lvl="0" algn="ctr">
              <a:lnSpc>
                <a:spcPct val="181000"/>
              </a:lnSpc>
              <a:defRPr/>
            </a:pPr>
            <a:r>
              <a:rPr lang="en-US" sz="2800" b="0" i="0" u="none" strike="noStrike" spc="-335">
                <a:solidFill>
                  <a:srgbClr val="242424"/>
                </a:solidFill>
                <a:latin typeface="Pretendard Light"/>
              </a:rPr>
              <a:t>  </a:t>
            </a:r>
            <a:r>
              <a:rPr lang="ko-KR" sz="2800" b="0" i="0" u="none" strike="noStrike" spc="-335">
                <a:solidFill>
                  <a:srgbClr val="242424"/>
                </a:solidFill>
                <a:ea typeface="Pretendard Light"/>
              </a:rPr>
              <a:t>예측을</a:t>
            </a:r>
            <a:r>
              <a:rPr lang="en-US" sz="2800" b="0" i="0" u="none" strike="noStrike" spc="-335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335">
                <a:solidFill>
                  <a:srgbClr val="242424"/>
                </a:solidFill>
                <a:ea typeface="Pretendard Light"/>
              </a:rPr>
              <a:t>통한</a:t>
            </a:r>
            <a:r>
              <a:rPr lang="en-US" sz="2800" b="0" i="0" u="none" strike="noStrike" spc="-335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335">
                <a:solidFill>
                  <a:srgbClr val="242424"/>
                </a:solidFill>
                <a:ea typeface="Pretendard Light"/>
              </a:rPr>
              <a:t>안정적</a:t>
            </a:r>
            <a:r>
              <a:rPr lang="en-US" sz="2800" b="0" i="0" u="none" strike="noStrike" spc="-335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335">
                <a:solidFill>
                  <a:srgbClr val="242424"/>
                </a:solidFill>
                <a:ea typeface="Pretendard Light"/>
              </a:rPr>
              <a:t>공급망</a:t>
            </a:r>
          </a:p>
          <a:p>
            <a:pPr lvl="0" algn="ctr">
              <a:lnSpc>
                <a:spcPct val="181000"/>
              </a:lnSpc>
              <a:defRPr/>
            </a:pPr>
            <a:r>
              <a:rPr lang="en-US" sz="2800" b="0" i="0" u="none" strike="noStrike" spc="-335">
                <a:solidFill>
                  <a:srgbClr val="242424"/>
                </a:solidFill>
                <a:latin typeface="Pretendard Light"/>
              </a:rPr>
              <a:t>  </a:t>
            </a:r>
            <a:r>
              <a:rPr lang="ko-KR" sz="2800" b="0" i="0" u="none" strike="noStrike" spc="-335">
                <a:solidFill>
                  <a:srgbClr val="242424"/>
                </a:solidFill>
                <a:ea typeface="Pretendard Light"/>
              </a:rPr>
              <a:t>구축</a:t>
            </a:r>
          </a:p>
          <a:p>
            <a:pPr lvl="0" algn="ctr">
              <a:lnSpc>
                <a:spcPct val="181000"/>
              </a:lnSpc>
              <a:defRPr/>
            </a:pPr>
            <a:r>
              <a:rPr lang="en-US" sz="2800" b="0" i="0" u="none" strike="noStrike" spc="-335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800" b="0" i="0" u="none" strike="noStrike" spc="-335">
                <a:solidFill>
                  <a:srgbClr val="242424"/>
                </a:solidFill>
                <a:ea typeface="Pretendard Light"/>
              </a:rPr>
              <a:t>정책</a:t>
            </a:r>
            <a:r>
              <a:rPr lang="en-US" sz="2800" b="0" i="0" u="none" strike="noStrike" spc="-335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335">
                <a:solidFill>
                  <a:srgbClr val="242424"/>
                </a:solidFill>
                <a:ea typeface="Pretendard Light"/>
              </a:rPr>
              <a:t>신뢰도</a:t>
            </a:r>
            <a:r>
              <a:rPr lang="en-US" sz="2800" b="0" i="0" u="none" strike="noStrike" spc="-335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335">
                <a:solidFill>
                  <a:srgbClr val="242424"/>
                </a:solidFill>
                <a:ea typeface="Pretendard Light"/>
              </a:rPr>
              <a:t>제고</a:t>
            </a:r>
            <a:r>
              <a:rPr lang="en-US" sz="2800" b="0" i="0" u="none" strike="noStrike" spc="-335">
                <a:solidFill>
                  <a:srgbClr val="242424"/>
                </a:solidFill>
                <a:latin typeface="Pretendard Light"/>
              </a:rPr>
              <a:t>: </a:t>
            </a:r>
            <a:r>
              <a:rPr lang="ko-KR" sz="2800" b="0" i="0" u="none" strike="noStrike" spc="-335">
                <a:solidFill>
                  <a:srgbClr val="242424"/>
                </a:solidFill>
                <a:ea typeface="Pretendard Light"/>
              </a:rPr>
              <a:t>지도</a:t>
            </a:r>
          </a:p>
          <a:p>
            <a:pPr lvl="0" algn="ctr">
              <a:lnSpc>
                <a:spcPct val="181000"/>
              </a:lnSpc>
              <a:defRPr/>
            </a:pPr>
            <a:r>
              <a:rPr lang="en-US" sz="2800" b="0" i="0" u="none" strike="noStrike" spc="-335">
                <a:solidFill>
                  <a:srgbClr val="242424"/>
                </a:solidFill>
                <a:latin typeface="Pretendard Light"/>
              </a:rPr>
              <a:t>  </a:t>
            </a:r>
            <a:r>
              <a:rPr lang="ko-KR" sz="2800" b="0" i="0" u="none" strike="noStrike" spc="-335">
                <a:solidFill>
                  <a:srgbClr val="242424"/>
                </a:solidFill>
                <a:ea typeface="Pretendard Light"/>
              </a:rPr>
              <a:t>기반</a:t>
            </a:r>
            <a:r>
              <a:rPr lang="en-US" sz="2800" b="0" i="0" u="none" strike="noStrike" spc="-335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335">
                <a:solidFill>
                  <a:srgbClr val="242424"/>
                </a:solidFill>
                <a:ea typeface="Pretendard Light"/>
              </a:rPr>
              <a:t>시각화</a:t>
            </a:r>
            <a:r>
              <a:rPr lang="en-US" sz="2800" b="0" i="0" u="none" strike="noStrike" spc="-335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335">
                <a:solidFill>
                  <a:srgbClr val="242424"/>
                </a:solidFill>
                <a:ea typeface="Pretendard Light"/>
              </a:rPr>
              <a:t>데이터로</a:t>
            </a:r>
            <a:r>
              <a:rPr lang="en-US" sz="2800" b="0" i="0" u="none" strike="noStrike" spc="-335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335">
                <a:solidFill>
                  <a:srgbClr val="242424"/>
                </a:solidFill>
                <a:ea typeface="Pretendard Light"/>
              </a:rPr>
              <a:t>국민</a:t>
            </a:r>
          </a:p>
          <a:p>
            <a:pPr lvl="0" algn="ctr">
              <a:lnSpc>
                <a:spcPct val="181000"/>
              </a:lnSpc>
              <a:defRPr/>
            </a:pPr>
            <a:r>
              <a:rPr lang="en-US" sz="2800" b="0" i="0" u="none" strike="noStrike" spc="-335">
                <a:solidFill>
                  <a:srgbClr val="242424"/>
                </a:solidFill>
                <a:latin typeface="Pretendard Light"/>
              </a:rPr>
              <a:t>  </a:t>
            </a:r>
            <a:r>
              <a:rPr lang="ko-KR" sz="2800" b="0" i="0" u="none" strike="noStrike" spc="-335">
                <a:solidFill>
                  <a:srgbClr val="242424"/>
                </a:solidFill>
                <a:ea typeface="Pretendard Light"/>
              </a:rPr>
              <a:t>이해와</a:t>
            </a:r>
            <a:r>
              <a:rPr lang="en-US" sz="2800" b="0" i="0" u="none" strike="noStrike" spc="-335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335">
                <a:solidFill>
                  <a:srgbClr val="242424"/>
                </a:solidFill>
                <a:ea typeface="Pretendard Light"/>
              </a:rPr>
              <a:t>참여</a:t>
            </a:r>
            <a:r>
              <a:rPr lang="en-US" sz="2800" b="0" i="0" u="none" strike="noStrike" spc="-335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800" b="0" i="0" u="none" strike="noStrike" spc="-335">
                <a:solidFill>
                  <a:srgbClr val="242424"/>
                </a:solidFill>
                <a:ea typeface="Pretendard Light"/>
              </a:rPr>
              <a:t>확대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508000" y="177800"/>
            <a:ext cx="5486400" cy="5486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867</TotalTime>
  <Words>1095</Words>
  <Application>Microsoft Office PowerPoint</Application>
  <PresentationFormat>사용자 지정</PresentationFormat>
  <Paragraphs>168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7" baseType="lpstr">
      <vt:lpstr>Cinzel Bold</vt:lpstr>
      <vt:lpstr>MapoDPP</vt:lpstr>
      <vt:lpstr>Pretendard Bold</vt:lpstr>
      <vt:lpstr>Pretendard Light</vt:lpstr>
      <vt:lpstr>Pretendard Medium</vt:lpstr>
      <vt:lpstr>Pretendard Regular</vt:lpstr>
      <vt:lpstr>Pretendard SemiBold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Jekin Moon</cp:lastModifiedBy>
  <cp:revision>36</cp:revision>
  <dcterms:created xsi:type="dcterms:W3CDTF">2006-08-16T00:00:00Z</dcterms:created>
  <dcterms:modified xsi:type="dcterms:W3CDTF">2025-12-30T05:36:28Z</dcterms:modified>
  <cp:version/>
</cp:coreProperties>
</file>